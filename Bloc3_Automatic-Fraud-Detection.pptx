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4" r:id="rId7"/>
    <p:sldId id="265" r:id="rId8"/>
    <p:sldId id="262" r:id="rId9"/>
  </p:sldIdLst>
  <p:sldSz cx="9144000" cy="5143500" type="screen16x9"/>
  <p:notesSz cx="6858000" cy="9144000"/>
  <p:embeddedFontLst>
    <p:embeddedFont>
      <p:font typeface="Inter Medium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RpKbBYb5zYLMrPNMhoHya77b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200"/>
    <a:srgbClr val="4472C4"/>
    <a:srgbClr val="00AF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>
      <p:cViewPr varScale="1">
        <p:scale>
          <a:sx n="129" d="100"/>
          <a:sy n="129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521bfe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6" name="Google Shape;106;g3d6521bfe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9" name="Google Shape;129;g3d6521bfe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9" name="Google Shape;129;g3d6521bfe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5A5DEB73-E495-2979-A01D-53053CB3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>
            <a:extLst>
              <a:ext uri="{FF2B5EF4-FFF2-40B4-BE49-F238E27FC236}">
                <a16:creationId xmlns:a16="http://schemas.microsoft.com/office/drawing/2014/main" id="{7C210CC1-ED3C-08C7-3FD0-12D8185A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9" name="Google Shape;149;p12:notes">
            <a:extLst>
              <a:ext uri="{FF2B5EF4-FFF2-40B4-BE49-F238E27FC236}">
                <a16:creationId xmlns:a16="http://schemas.microsoft.com/office/drawing/2014/main" id="{9DE40071-5EF3-6E01-54A5-8F8AD5196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4111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735474" y="1533146"/>
            <a:ext cx="8285684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</a:t>
            </a:r>
            <a:r>
              <a:rPr lang="fr-FR" sz="40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Automatic</a:t>
            </a: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fr-FR" sz="40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Fraud</a:t>
            </a: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Detection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550" y="430537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48175" y="2547750"/>
            <a:ext cx="793274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 algn="l">
              <a:buSzPct val="231111"/>
            </a:pPr>
            <a:r>
              <a:rPr lang="fr-FR" sz="2800" dirty="0">
                <a:solidFill>
                  <a:schemeClr val="bg1"/>
                </a:solidFill>
              </a:rPr>
              <a:t>Pipeline MLOps automatisé pour détecter, alerter et réentraîner un modèle de fraude</a:t>
            </a:r>
            <a:endParaRPr sz="2500" dirty="0">
              <a:solidFill>
                <a:schemeClr val="bg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FR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521bfe93_0_0"/>
          <p:cNvSpPr txBox="1">
            <a:spLocks noGrp="1"/>
          </p:cNvSpPr>
          <p:nvPr>
            <p:ph type="ctrTitle" idx="4294967295"/>
          </p:nvPr>
        </p:nvSpPr>
        <p:spPr>
          <a:xfrm>
            <a:off x="921837" y="129373"/>
            <a:ext cx="79842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200" dirty="0">
                <a:solidFill>
                  <a:srgbClr val="0E3449"/>
                </a:solidFill>
                <a:latin typeface="Inter SemiBold"/>
                <a:ea typeface="Inter SemiBold"/>
              </a:rPr>
              <a:t>Le point de départ : une transaction entre dans le système</a:t>
            </a:r>
            <a:endParaRPr sz="22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09" name="Google Shape;109;g3d6521bfe93_0_0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d6521bfe9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19" y="14008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d6521bfe93_0_0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2</a:t>
            </a:fld>
            <a:endParaRPr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FF25335-D7F9-7563-766B-B0CF971C1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66" y="782647"/>
            <a:ext cx="8854068" cy="242349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DA9DB0C-EAE5-9C14-28B4-EAF205F8B19B}"/>
              </a:ext>
            </a:extLst>
          </p:cNvPr>
          <p:cNvSpPr txBox="1"/>
          <p:nvPr/>
        </p:nvSpPr>
        <p:spPr>
          <a:xfrm>
            <a:off x="6066267" y="3370462"/>
            <a:ext cx="2494156" cy="1384995"/>
          </a:xfrm>
          <a:prstGeom prst="rect">
            <a:avLst/>
          </a:prstGeom>
          <a:noFill/>
          <a:ln>
            <a:solidFill>
              <a:srgbClr val="FF7200"/>
            </a:solidFill>
          </a:ln>
        </p:spPr>
        <p:txBody>
          <a:bodyPr wrap="square">
            <a:spAutoFit/>
          </a:bodyPr>
          <a:lstStyle/>
          <a:p>
            <a:r>
              <a:rPr lang="fr-FR" sz="1200" b="1" dirty="0"/>
              <a:t>Paramètres d’inférence :</a:t>
            </a:r>
            <a:br>
              <a:rPr lang="fr-FR" sz="1200" dirty="0"/>
            </a:br>
            <a:br>
              <a:rPr lang="fr-FR" sz="1200" dirty="0"/>
            </a:br>
            <a:r>
              <a:rPr lang="fr-FR" sz="1200" dirty="0"/>
              <a:t>Modèle de production</a:t>
            </a:r>
            <a:br>
              <a:rPr lang="fr-FR" sz="1200" dirty="0"/>
            </a:br>
            <a:r>
              <a:rPr lang="fr-FR" sz="1200" dirty="0"/>
              <a:t>Alias MLflow : champion</a:t>
            </a:r>
            <a:br>
              <a:rPr lang="fr-FR" sz="1200" dirty="0"/>
            </a:br>
            <a:br>
              <a:rPr lang="fr-FR" sz="1200" dirty="0"/>
            </a:br>
            <a:r>
              <a:rPr lang="fr-FR" sz="1200" dirty="0"/>
              <a:t>Seuil de production : 0.90</a:t>
            </a:r>
            <a:br>
              <a:rPr lang="fr-FR" sz="1200" dirty="0"/>
            </a:br>
            <a:r>
              <a:rPr lang="fr-FR" sz="1200" dirty="0"/>
              <a:t>Règle : proba fraude ≥ seuil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CA7EBF1-D5AA-FA67-808F-BBF43BF415C3}"/>
              </a:ext>
            </a:extLst>
          </p:cNvPr>
          <p:cNvSpPr txBox="1"/>
          <p:nvPr/>
        </p:nvSpPr>
        <p:spPr>
          <a:xfrm>
            <a:off x="744519" y="3448919"/>
            <a:ext cx="4471103" cy="1200329"/>
          </a:xfrm>
          <a:prstGeom prst="rect">
            <a:avLst/>
          </a:prstGeom>
          <a:noFill/>
          <a:ln>
            <a:solidFill>
              <a:srgbClr val="FF7200"/>
            </a:solidFill>
          </a:ln>
        </p:spPr>
        <p:txBody>
          <a:bodyPr wrap="square">
            <a:spAutoFit/>
          </a:bodyPr>
          <a:lstStyle/>
          <a:p>
            <a:r>
              <a:rPr lang="fr-FR" sz="1200" b="1" dirty="0"/>
              <a:t>À noter :</a:t>
            </a:r>
          </a:p>
          <a:p>
            <a:br>
              <a:rPr lang="fr-FR" sz="1200" dirty="0"/>
            </a:br>
            <a:r>
              <a:rPr lang="fr-FR" sz="1200" dirty="0"/>
              <a:t>l’API simulée fournit aussi « is_fraud », mais ce label n’est pas utilisé pour prédire.</a:t>
            </a:r>
            <a:br>
              <a:rPr lang="fr-FR" sz="1200" dirty="0"/>
            </a:br>
            <a:r>
              <a:rPr lang="fr-FR" sz="1200" dirty="0"/>
              <a:t>Il sert à simuler la validation métier et à alimenter le futur réentraînement.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ctrTitle" idx="4294967295"/>
          </p:nvPr>
        </p:nvSpPr>
        <p:spPr>
          <a:xfrm>
            <a:off x="2029522" y="24389"/>
            <a:ext cx="7114478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>
                <a:solidFill>
                  <a:srgbClr val="0E3449"/>
                </a:solidFill>
                <a:latin typeface="Inter SemiBold"/>
                <a:ea typeface="Inter SemiBold"/>
              </a:rPr>
              <a:t>Une prédiction devient une trace exploitable</a:t>
            </a:r>
            <a:endParaRPr sz="24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161" y="97987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3</a:t>
            </a:fld>
            <a:endParaRPr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E69B3AB-19DE-946A-9EFD-E5653780746E}"/>
              </a:ext>
            </a:extLst>
          </p:cNvPr>
          <p:cNvSpPr txBox="1"/>
          <p:nvPr/>
        </p:nvSpPr>
        <p:spPr>
          <a:xfrm>
            <a:off x="689633" y="456456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système ne se limite pas à prédire : il conserve, notifie et prépare la boucle de réapprentissage.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C86BED8-96D1-8F8E-D6F7-22C2B345F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62" y="588036"/>
            <a:ext cx="8463543" cy="3872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>
            <a:spLocks noGrp="1"/>
          </p:cNvSpPr>
          <p:nvPr>
            <p:ph type="ctrTitle" idx="4294967295"/>
          </p:nvPr>
        </p:nvSpPr>
        <p:spPr>
          <a:xfrm>
            <a:off x="1486832" y="119968"/>
            <a:ext cx="7538224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>
                <a:solidFill>
                  <a:srgbClr val="0E3449"/>
                </a:solidFill>
                <a:latin typeface="Inter SemiBold"/>
                <a:ea typeface="Inter SemiBold"/>
              </a:rPr>
              <a:t>Champion vs Challenger : une promotion contrôlée</a:t>
            </a:r>
            <a:endParaRPr sz="24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010" y="193566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6521bfe93_0_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4</a:t>
            </a:fld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D9AC328-19A7-5BFB-72F3-23919984BEC0}"/>
              </a:ext>
            </a:extLst>
          </p:cNvPr>
          <p:cNvSpPr txBox="1"/>
          <p:nvPr/>
        </p:nvSpPr>
        <p:spPr>
          <a:xfrm>
            <a:off x="360378" y="922630"/>
            <a:ext cx="8660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Le pipeline réentraîne plusieurs candidats, puis ne promeut le meilleur que si les critères sont respectés.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ECBEDA3-A63E-03A7-042F-51A05D683F9B}"/>
              </a:ext>
            </a:extLst>
          </p:cNvPr>
          <p:cNvSpPr txBox="1"/>
          <p:nvPr/>
        </p:nvSpPr>
        <p:spPr>
          <a:xfrm>
            <a:off x="2921550" y="4233706"/>
            <a:ext cx="3300897" cy="276999"/>
          </a:xfrm>
          <a:prstGeom prst="rect">
            <a:avLst/>
          </a:prstGeom>
          <a:noFill/>
          <a:ln>
            <a:solidFill>
              <a:srgbClr val="FF72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Décision historisée dans model_cd_decisions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A764C11B-2574-EA3B-4AA4-E9D003FFC697}"/>
              </a:ext>
            </a:extLst>
          </p:cNvPr>
          <p:cNvGrpSpPr/>
          <p:nvPr/>
        </p:nvGrpSpPr>
        <p:grpSpPr>
          <a:xfrm>
            <a:off x="231300" y="1284559"/>
            <a:ext cx="8739594" cy="2667667"/>
            <a:chOff x="231300" y="1032924"/>
            <a:chExt cx="8739594" cy="266766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43B4A0F5-ADE3-DBC3-0A1D-8300CA987AB2}"/>
                </a:ext>
              </a:extLst>
            </p:cNvPr>
            <p:cNvSpPr txBox="1"/>
            <p:nvPr/>
          </p:nvSpPr>
          <p:spPr>
            <a:xfrm>
              <a:off x="231300" y="1032924"/>
              <a:ext cx="2020227" cy="830997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txBody>
            <a:bodyPr wrap="square">
              <a:spAutoFit/>
            </a:bodyPr>
            <a:lstStyle/>
            <a:p>
              <a:r>
                <a:rPr lang="fr-FR" sz="1200" b="1" dirty="0"/>
                <a:t>Champion</a:t>
              </a:r>
            </a:p>
            <a:p>
              <a:br>
                <a:rPr lang="fr-FR" sz="1200" dirty="0"/>
              </a:br>
              <a:r>
                <a:rPr lang="fr-FR" sz="1200" dirty="0"/>
                <a:t>Modèle actuellement utilisé en production via MLflow.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749B384E-BA4E-4ED6-9B23-3F0DB6538EC8}"/>
                </a:ext>
              </a:extLst>
            </p:cNvPr>
            <p:cNvSpPr txBox="1"/>
            <p:nvPr/>
          </p:nvSpPr>
          <p:spPr>
            <a:xfrm>
              <a:off x="7089876" y="1034099"/>
              <a:ext cx="1881018" cy="8309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fr-FR" sz="1200" b="1" dirty="0"/>
                <a:t>Challenger</a:t>
              </a:r>
            </a:p>
            <a:p>
              <a:br>
                <a:rPr lang="fr-FR" sz="1200" dirty="0"/>
              </a:br>
              <a:r>
                <a:rPr lang="fr-FR" sz="1200" dirty="0"/>
                <a:t>Meilleur modèle candidat issu du réentraînement.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66DF770-FC62-902D-10CF-00FEE9DCF8D3}"/>
                </a:ext>
              </a:extLst>
            </p:cNvPr>
            <p:cNvSpPr txBox="1"/>
            <p:nvPr/>
          </p:nvSpPr>
          <p:spPr>
            <a:xfrm>
              <a:off x="2448930" y="1032924"/>
              <a:ext cx="4443543" cy="1754326"/>
            </a:xfrm>
            <a:prstGeom prst="rect">
              <a:avLst/>
            </a:prstGeom>
            <a:noFill/>
            <a:ln>
              <a:solidFill>
                <a:srgbClr val="FF7200"/>
              </a:solidFill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fr-FR" sz="1200" b="1" dirty="0"/>
                <a:t>Règles de promotion :</a:t>
              </a:r>
            </a:p>
            <a:p>
              <a:pPr>
                <a:buNone/>
              </a:pPr>
              <a:endParaRPr lang="fr-FR" sz="1200" dirty="0"/>
            </a:p>
            <a:p>
              <a:pPr marL="285750" indent="-285750">
                <a:buFontTx/>
                <a:buChar char="-"/>
              </a:pPr>
              <a:r>
                <a:rPr lang="fr-FR" sz="1200" dirty="0" err="1"/>
                <a:t>average_precision</a:t>
              </a:r>
              <a:r>
                <a:rPr lang="fr-FR" sz="1200" dirty="0"/>
                <a:t> : challenger ≥ champion + 0.01</a:t>
              </a:r>
            </a:p>
            <a:p>
              <a:pPr marL="285750" indent="-285750">
                <a:buFontTx/>
                <a:buChar char="-"/>
              </a:pPr>
              <a:r>
                <a:rPr lang="fr-FR" sz="1200" dirty="0" err="1"/>
                <a:t>recall</a:t>
              </a:r>
              <a:r>
                <a:rPr lang="fr-FR" sz="1200" dirty="0"/>
                <a:t> fraude : challenger ≥ champion - 0.02</a:t>
              </a:r>
            </a:p>
            <a:p>
              <a:pPr marL="285750" indent="-285750">
                <a:buFontTx/>
                <a:buChar char="-"/>
              </a:pPr>
              <a:r>
                <a:rPr lang="fr-FR" sz="1200" dirty="0" err="1"/>
                <a:t>precision</a:t>
              </a:r>
              <a:r>
                <a:rPr lang="fr-FR" sz="1200" dirty="0"/>
                <a:t> fraude : challenger ≥ champion + 0.01</a:t>
              </a:r>
            </a:p>
            <a:p>
              <a:pPr marL="285750" indent="-285750">
                <a:buFontTx/>
                <a:buChar char="-"/>
              </a:pPr>
              <a:endParaRPr lang="fr-FR" sz="1200" dirty="0"/>
            </a:p>
            <a:p>
              <a:r>
                <a:rPr lang="fr-FR" sz="1200" b="1" dirty="0"/>
                <a:t>Seuil de production :</a:t>
              </a:r>
            </a:p>
            <a:p>
              <a:endParaRPr lang="fr-FR" sz="1200" b="1" dirty="0"/>
            </a:p>
            <a:p>
              <a:r>
                <a:rPr lang="fr-FR" sz="1200" dirty="0"/>
                <a:t>- Probabilité de fraude ≥ 0.90</a:t>
              </a:r>
            </a:p>
          </p:txBody>
        </p:sp>
        <p:cxnSp>
          <p:nvCxnSpPr>
            <p:cNvPr id="20" name="Connecteur : en angle 19">
              <a:extLst>
                <a:ext uri="{FF2B5EF4-FFF2-40B4-BE49-F238E27FC236}">
                  <a16:creationId xmlns:a16="http://schemas.microsoft.com/office/drawing/2014/main" id="{FD945904-BCEC-A66A-C195-A6AE15A5A503}"/>
                </a:ext>
              </a:extLst>
            </p:cNvPr>
            <p:cNvCxnSpPr>
              <a:cxnSpLocks/>
              <a:stCxn id="5" idx="2"/>
              <a:endCxn id="11" idx="1"/>
            </p:cNvCxnSpPr>
            <p:nvPr/>
          </p:nvCxnSpPr>
          <p:spPr>
            <a:xfrm rot="16200000" flipH="1">
              <a:off x="1731093" y="1374242"/>
              <a:ext cx="1229270" cy="2208628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 : en angle 21">
              <a:extLst>
                <a:ext uri="{FF2B5EF4-FFF2-40B4-BE49-F238E27FC236}">
                  <a16:creationId xmlns:a16="http://schemas.microsoft.com/office/drawing/2014/main" id="{4B3A6246-F68A-BBD9-4DD0-B35374D8AAAF}"/>
                </a:ext>
              </a:extLst>
            </p:cNvPr>
            <p:cNvCxnSpPr>
              <a:cxnSpLocks/>
              <a:stCxn id="7" idx="2"/>
              <a:endCxn id="11" idx="3"/>
            </p:cNvCxnSpPr>
            <p:nvPr/>
          </p:nvCxnSpPr>
          <p:spPr>
            <a:xfrm rot="5400000">
              <a:off x="6248124" y="1310929"/>
              <a:ext cx="1228095" cy="2336429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4EE7CB8D-1178-E66C-9983-8D37558649D9}"/>
                </a:ext>
              </a:extLst>
            </p:cNvPr>
            <p:cNvGrpSpPr/>
            <p:nvPr/>
          </p:nvGrpSpPr>
          <p:grpSpPr>
            <a:xfrm>
              <a:off x="3213348" y="2954691"/>
              <a:ext cx="2480608" cy="745900"/>
              <a:chOff x="3213348" y="2995714"/>
              <a:chExt cx="2480608" cy="745900"/>
            </a:xfrm>
          </p:grpSpPr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83B7340-60DB-C45D-5B03-38BC41EBAC0F}"/>
                  </a:ext>
                </a:extLst>
              </p:cNvPr>
              <p:cNvSpPr txBox="1"/>
              <p:nvPr/>
            </p:nvSpPr>
            <p:spPr>
              <a:xfrm>
                <a:off x="3450042" y="2995714"/>
                <a:ext cx="2243914" cy="276999"/>
              </a:xfrm>
              <a:prstGeom prst="rect">
                <a:avLst/>
              </a:prstGeom>
              <a:noFill/>
              <a:ln>
                <a:solidFill>
                  <a:srgbClr val="FF720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r-FR" sz="1200" b="1" dirty="0"/>
                  <a:t>Décision CD du modèle</a:t>
                </a:r>
                <a:endParaRPr lang="fr-FR" sz="1200" dirty="0"/>
              </a:p>
            </p:txBody>
          </p: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E1880BE6-68E4-E716-FFBF-A007A68C4C03}"/>
                  </a:ext>
                </a:extLst>
              </p:cNvPr>
              <p:cNvGrpSpPr/>
              <p:nvPr/>
            </p:nvGrpSpPr>
            <p:grpSpPr>
              <a:xfrm>
                <a:off x="3213348" y="3456028"/>
                <a:ext cx="2480608" cy="285586"/>
                <a:chOff x="3101804" y="3400344"/>
                <a:chExt cx="2470841" cy="285586"/>
              </a:xfrm>
            </p:grpSpPr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D7AD7F1A-1B03-093B-FDCA-9FB24F1E25B5}"/>
                    </a:ext>
                  </a:extLst>
                </p:cNvPr>
                <p:cNvSpPr txBox="1"/>
                <p:nvPr/>
              </p:nvSpPr>
              <p:spPr>
                <a:xfrm>
                  <a:off x="3101804" y="3408931"/>
                  <a:ext cx="1070579" cy="276999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fr-FR" sz="1200" b="1" dirty="0"/>
                    <a:t>Promotion</a:t>
                  </a:r>
                  <a:endParaRPr lang="fr-FR" sz="1200" dirty="0"/>
                </a:p>
              </p:txBody>
            </p:sp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E1C41567-47F9-B8FE-2260-8FF7649ACAE2}"/>
                    </a:ext>
                  </a:extLst>
                </p:cNvPr>
                <p:cNvSpPr txBox="1"/>
                <p:nvPr/>
              </p:nvSpPr>
              <p:spPr>
                <a:xfrm>
                  <a:off x="4789005" y="3400344"/>
                  <a:ext cx="783640" cy="276999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fr-FR" sz="1200" b="1" dirty="0"/>
                    <a:t>Rejet</a:t>
                  </a:r>
                  <a:endParaRPr lang="fr-FR" sz="1200" dirty="0"/>
                </a:p>
              </p:txBody>
            </p:sp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F5D7BCC4-7913-2985-13AC-A70EBED940B9}"/>
                    </a:ext>
                  </a:extLst>
                </p:cNvPr>
                <p:cNvSpPr txBox="1"/>
                <p:nvPr/>
              </p:nvSpPr>
              <p:spPr>
                <a:xfrm>
                  <a:off x="4288183" y="3408931"/>
                  <a:ext cx="3531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/>
                    <a:t>ou</a:t>
                  </a:r>
                </a:p>
              </p:txBody>
            </p:sp>
          </p:grpSp>
          <p:cxnSp>
            <p:nvCxnSpPr>
              <p:cNvPr id="24" name="Connecteur droit avec flèche 23">
                <a:extLst>
                  <a:ext uri="{FF2B5EF4-FFF2-40B4-BE49-F238E27FC236}">
                    <a16:creationId xmlns:a16="http://schemas.microsoft.com/office/drawing/2014/main" id="{A955FCF7-4C1B-663B-5DBB-5BB3A8AD2D32}"/>
                  </a:ext>
                </a:extLst>
              </p:cNvPr>
              <p:cNvCxnSpPr>
                <a:stCxn id="11" idx="2"/>
                <a:endCxn id="13" idx="0"/>
              </p:cNvCxnSpPr>
              <p:nvPr/>
            </p:nvCxnSpPr>
            <p:spPr>
              <a:xfrm flipH="1">
                <a:off x="3750754" y="3272713"/>
                <a:ext cx="821245" cy="1919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eur droit avec flèche 25">
                <a:extLst>
                  <a:ext uri="{FF2B5EF4-FFF2-40B4-BE49-F238E27FC236}">
                    <a16:creationId xmlns:a16="http://schemas.microsoft.com/office/drawing/2014/main" id="{AE6F3159-32D3-8651-9E3D-677CEC60F635}"/>
                  </a:ext>
                </a:extLst>
              </p:cNvPr>
              <p:cNvCxnSpPr>
                <a:cxnSpLocks/>
                <a:stCxn id="11" idx="2"/>
                <a:endCxn id="15" idx="0"/>
              </p:cNvCxnSpPr>
              <p:nvPr/>
            </p:nvCxnSpPr>
            <p:spPr>
              <a:xfrm>
                <a:off x="4571999" y="3272713"/>
                <a:ext cx="728588" cy="1833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>
            <a:spLocks noGrp="1"/>
          </p:cNvSpPr>
          <p:nvPr>
            <p:ph type="ctrTitle" idx="4294967295"/>
          </p:nvPr>
        </p:nvSpPr>
        <p:spPr>
          <a:xfrm>
            <a:off x="850652" y="58523"/>
            <a:ext cx="4498588" cy="38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Une chaîne MLOps de bout en bout</a:t>
            </a:r>
            <a:endParaRPr sz="20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61" y="62698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6521bfe93_0_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5</a:t>
            </a:fld>
            <a:endParaRPr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F969D0-1551-DC09-98A9-A4E4D302FA11}"/>
              </a:ext>
            </a:extLst>
          </p:cNvPr>
          <p:cNvSpPr txBox="1"/>
          <p:nvPr/>
        </p:nvSpPr>
        <p:spPr>
          <a:xfrm>
            <a:off x="0" y="2339340"/>
            <a:ext cx="24205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projet relie l’inférence, la qualité, l’alerting, le stockage, le réentraînement et la promotion modèle.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211E38C-280D-2958-2B00-87FEC3946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559" y="444427"/>
            <a:ext cx="6600599" cy="44284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7E764C1B-D241-90DB-7BF6-80D847F1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9E588378-0F16-19F0-931C-A886587FF32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971428" y="53365"/>
            <a:ext cx="2130625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Conclusion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52" name="Google Shape;152;p12">
            <a:extLst>
              <a:ext uri="{FF2B5EF4-FFF2-40B4-BE49-F238E27FC236}">
                <a16:creationId xmlns:a16="http://schemas.microsoft.com/office/drawing/2014/main" id="{E6948072-E658-EB77-1A96-79C289B0EDD8}"/>
              </a:ext>
            </a:extLst>
          </p:cNvPr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>
            <a:extLst>
              <a:ext uri="{FF2B5EF4-FFF2-40B4-BE49-F238E27FC236}">
                <a16:creationId xmlns:a16="http://schemas.microsoft.com/office/drawing/2014/main" id="{1C185566-518C-E642-1691-219E66080B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2793" y="1013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>
            <a:extLst>
              <a:ext uri="{FF2B5EF4-FFF2-40B4-BE49-F238E27FC236}">
                <a16:creationId xmlns:a16="http://schemas.microsoft.com/office/drawing/2014/main" id="{F5AA90CB-0FDF-1BA2-7379-E68B60439C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6</a:t>
            </a:fld>
            <a:endParaRPr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DFD1A14-80AE-108D-8339-7150BDED6C0E}"/>
              </a:ext>
            </a:extLst>
          </p:cNvPr>
          <p:cNvGrpSpPr/>
          <p:nvPr/>
        </p:nvGrpSpPr>
        <p:grpSpPr>
          <a:xfrm>
            <a:off x="90935" y="836075"/>
            <a:ext cx="2015816" cy="1301875"/>
            <a:chOff x="190500" y="784860"/>
            <a:chExt cx="2015816" cy="1301875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45963E76-9565-49A3-CB5D-B79C920D311D}"/>
                </a:ext>
              </a:extLst>
            </p:cNvPr>
            <p:cNvSpPr/>
            <p:nvPr/>
          </p:nvSpPr>
          <p:spPr>
            <a:xfrm>
              <a:off x="190500" y="784860"/>
              <a:ext cx="2015816" cy="1301875"/>
            </a:xfrm>
            <a:prstGeom prst="roundRect">
              <a:avLst/>
            </a:prstGeom>
            <a:noFill/>
            <a:ln>
              <a:solidFill>
                <a:srgbClr val="FF7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AB50887A-A9A9-91BA-99C7-65A1206A0507}"/>
                </a:ext>
              </a:extLst>
            </p:cNvPr>
            <p:cNvSpPr txBox="1"/>
            <p:nvPr/>
          </p:nvSpPr>
          <p:spPr>
            <a:xfrm>
              <a:off x="268001" y="854634"/>
              <a:ext cx="193831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Inférence </a:t>
              </a:r>
              <a:r>
                <a:rPr lang="fr-FR" dirty="0"/>
                <a:t>:</a:t>
              </a:r>
            </a:p>
            <a:p>
              <a:endParaRPr lang="fr-FR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DAG Airflow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Scoring champion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Alerting Discord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72C72CD-FB7C-CEE0-2A37-25B94D33EF41}"/>
              </a:ext>
            </a:extLst>
          </p:cNvPr>
          <p:cNvGrpSpPr/>
          <p:nvPr/>
        </p:nvGrpSpPr>
        <p:grpSpPr>
          <a:xfrm>
            <a:off x="90935" y="2200500"/>
            <a:ext cx="2475294" cy="1301875"/>
            <a:chOff x="5900992" y="764168"/>
            <a:chExt cx="2475294" cy="1301875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ED3F901B-FB72-303A-5571-50381A4CB774}"/>
                </a:ext>
              </a:extLst>
            </p:cNvPr>
            <p:cNvSpPr/>
            <p:nvPr/>
          </p:nvSpPr>
          <p:spPr>
            <a:xfrm>
              <a:off x="5900992" y="764168"/>
              <a:ext cx="2475294" cy="1301875"/>
            </a:xfrm>
            <a:prstGeom prst="roundRect">
              <a:avLst/>
            </a:prstGeom>
            <a:noFill/>
            <a:ln>
              <a:solidFill>
                <a:srgbClr val="FF7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B09C80BE-C900-E8FD-3098-9E7C12929135}"/>
                </a:ext>
              </a:extLst>
            </p:cNvPr>
            <p:cNvSpPr txBox="1"/>
            <p:nvPr/>
          </p:nvSpPr>
          <p:spPr>
            <a:xfrm>
              <a:off x="5953032" y="826718"/>
              <a:ext cx="242102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Réentrainement </a:t>
              </a:r>
              <a:r>
                <a:rPr lang="fr-FR" dirty="0"/>
                <a:t>:</a:t>
              </a:r>
            </a:p>
            <a:p>
              <a:endParaRPr lang="fr-FR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Labels stockés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Seuil de déclenchement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Challenger comparé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69257E0-CA12-4DF1-3526-426C0C09735E}"/>
              </a:ext>
            </a:extLst>
          </p:cNvPr>
          <p:cNvGrpSpPr/>
          <p:nvPr/>
        </p:nvGrpSpPr>
        <p:grpSpPr>
          <a:xfrm>
            <a:off x="96172" y="3561556"/>
            <a:ext cx="2302865" cy="1301875"/>
            <a:chOff x="190500" y="784860"/>
            <a:chExt cx="2015816" cy="1301875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4B4BDA55-3F3F-03FF-E974-0837C417B75E}"/>
                </a:ext>
              </a:extLst>
            </p:cNvPr>
            <p:cNvSpPr/>
            <p:nvPr/>
          </p:nvSpPr>
          <p:spPr>
            <a:xfrm>
              <a:off x="190500" y="784860"/>
              <a:ext cx="2015816" cy="1301875"/>
            </a:xfrm>
            <a:prstGeom prst="roundRect">
              <a:avLst/>
            </a:prstGeom>
            <a:noFill/>
            <a:ln>
              <a:solidFill>
                <a:srgbClr val="FF7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B3F07341-DFB6-E158-FE81-FA4F76FC472C}"/>
                </a:ext>
              </a:extLst>
            </p:cNvPr>
            <p:cNvSpPr txBox="1"/>
            <p:nvPr/>
          </p:nvSpPr>
          <p:spPr>
            <a:xfrm>
              <a:off x="268001" y="854634"/>
              <a:ext cx="193831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Contrôles </a:t>
              </a:r>
              <a:r>
                <a:rPr lang="fr-FR" dirty="0"/>
                <a:t>:</a:t>
              </a:r>
            </a:p>
            <a:p>
              <a:endParaRPr lang="fr-FR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Validation qualité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CI GitHub Actions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dirty="0"/>
                <a:t>Décisions historisées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0373103-4F65-98E4-A1C7-9D6A608D9D88}"/>
              </a:ext>
            </a:extLst>
          </p:cNvPr>
          <p:cNvGrpSpPr/>
          <p:nvPr/>
        </p:nvGrpSpPr>
        <p:grpSpPr>
          <a:xfrm>
            <a:off x="6019113" y="2600115"/>
            <a:ext cx="3033952" cy="2101100"/>
            <a:chOff x="190500" y="784859"/>
            <a:chExt cx="2015816" cy="2101100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0B25BF5D-47A7-3547-6685-E94897EABFBD}"/>
                </a:ext>
              </a:extLst>
            </p:cNvPr>
            <p:cNvSpPr/>
            <p:nvPr/>
          </p:nvSpPr>
          <p:spPr>
            <a:xfrm>
              <a:off x="190500" y="784859"/>
              <a:ext cx="2015816" cy="2101099"/>
            </a:xfrm>
            <a:prstGeom prst="roundRect">
              <a:avLst/>
            </a:prstGeom>
            <a:noFill/>
            <a:ln>
              <a:solidFill>
                <a:srgbClr val="FF7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04F36B2B-D113-01F4-AA21-72EFD547F834}"/>
                </a:ext>
              </a:extLst>
            </p:cNvPr>
            <p:cNvSpPr txBox="1"/>
            <p:nvPr/>
          </p:nvSpPr>
          <p:spPr>
            <a:xfrm>
              <a:off x="268001" y="854634"/>
              <a:ext cx="1938315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Evolutions </a:t>
              </a:r>
              <a:r>
                <a:rPr lang="fr-FR" dirty="0"/>
                <a:t>:</a:t>
              </a:r>
            </a:p>
            <a:p>
              <a:endParaRPr lang="fr-FR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fr-FR" dirty="0"/>
                <a:t>Monitoring du drift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fr-FR" dirty="0"/>
                <a:t>Séparation des Flux labellisé / non labellisé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fr-FR" dirty="0"/>
                <a:t>Orchestration managée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fr-FR" dirty="0"/>
                <a:t>Sécurité, chiffrement et droits RGPD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fr-FR" dirty="0"/>
                <a:t>Gestion d’incidents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232053D-2626-BC3B-BDBD-7BC40BE5EDF4}"/>
              </a:ext>
            </a:extLst>
          </p:cNvPr>
          <p:cNvGrpSpPr/>
          <p:nvPr/>
        </p:nvGrpSpPr>
        <p:grpSpPr>
          <a:xfrm>
            <a:off x="3024515" y="2093371"/>
            <a:ext cx="2475294" cy="825677"/>
            <a:chOff x="194509" y="854634"/>
            <a:chExt cx="2015816" cy="825677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0F3DAA6D-2C2B-75F5-D780-83328AFD600B}"/>
                </a:ext>
              </a:extLst>
            </p:cNvPr>
            <p:cNvSpPr/>
            <p:nvPr/>
          </p:nvSpPr>
          <p:spPr>
            <a:xfrm>
              <a:off x="194509" y="871873"/>
              <a:ext cx="2015816" cy="808438"/>
            </a:xfrm>
            <a:prstGeom prst="roundRect">
              <a:avLst/>
            </a:prstGeom>
            <a:noFill/>
            <a:ln>
              <a:solidFill>
                <a:srgbClr val="FF7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6D63DD5-F021-0E89-F524-8A40A9041E59}"/>
                </a:ext>
              </a:extLst>
            </p:cNvPr>
            <p:cNvSpPr txBox="1"/>
            <p:nvPr/>
          </p:nvSpPr>
          <p:spPr>
            <a:xfrm>
              <a:off x="268001" y="854634"/>
              <a:ext cx="19383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MLOps fonctionnel </a:t>
              </a:r>
            </a:p>
            <a:p>
              <a:pPr algn="ctr"/>
              <a:r>
                <a:rPr lang="fr-FR" b="1" dirty="0"/>
                <a:t>≠ </a:t>
              </a:r>
            </a:p>
            <a:p>
              <a:pPr algn="ctr"/>
              <a:r>
                <a:rPr lang="fr-FR" b="1" dirty="0"/>
                <a:t>système industrialisé</a:t>
              </a:r>
              <a:endParaRPr lang="fr-FR" dirty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C02C172E-7ACD-8938-095A-FD7B622B4AC3}"/>
              </a:ext>
            </a:extLst>
          </p:cNvPr>
          <p:cNvGrpSpPr/>
          <p:nvPr/>
        </p:nvGrpSpPr>
        <p:grpSpPr>
          <a:xfrm>
            <a:off x="6013877" y="720100"/>
            <a:ext cx="3033951" cy="1665691"/>
            <a:chOff x="190500" y="784859"/>
            <a:chExt cx="2015816" cy="2201589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C709C036-1801-1230-3A4D-EF845AD02115}"/>
                </a:ext>
              </a:extLst>
            </p:cNvPr>
            <p:cNvSpPr/>
            <p:nvPr/>
          </p:nvSpPr>
          <p:spPr>
            <a:xfrm>
              <a:off x="190500" y="784859"/>
              <a:ext cx="2015816" cy="2201589"/>
            </a:xfrm>
            <a:prstGeom prst="roundRect">
              <a:avLst/>
            </a:prstGeom>
            <a:noFill/>
            <a:ln>
              <a:solidFill>
                <a:srgbClr val="FF7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55FF26E2-B878-3F35-3A97-8782CF54F116}"/>
                </a:ext>
              </a:extLst>
            </p:cNvPr>
            <p:cNvSpPr txBox="1"/>
            <p:nvPr/>
          </p:nvSpPr>
          <p:spPr>
            <a:xfrm>
              <a:off x="268001" y="854634"/>
              <a:ext cx="1938315" cy="183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Limites structurantes </a:t>
              </a:r>
              <a:r>
                <a:rPr lang="fr-FR" dirty="0"/>
                <a:t>:</a:t>
              </a:r>
            </a:p>
            <a:p>
              <a:endParaRPr lang="fr-FR" dirty="0"/>
            </a:p>
            <a:p>
              <a:pPr marL="285750" indent="-285750">
                <a:buFontTx/>
                <a:buChar char="-"/>
              </a:pPr>
              <a:r>
                <a:rPr lang="fr-FR" dirty="0"/>
                <a:t>Label « is_fraud » simulé</a:t>
              </a:r>
            </a:p>
            <a:p>
              <a:pPr marL="285750" indent="-285750">
                <a:buFontTx/>
                <a:buChar char="-"/>
              </a:pPr>
              <a:r>
                <a:rPr lang="fr-FR" dirty="0"/>
                <a:t>Airflow exécuté localement</a:t>
              </a:r>
            </a:p>
            <a:p>
              <a:pPr marL="285750" indent="-285750">
                <a:buFontTx/>
                <a:buChar char="-"/>
              </a:pPr>
              <a:r>
                <a:rPr lang="fr-FR" dirty="0"/>
                <a:t>Pas de surveillance du drift</a:t>
              </a:r>
            </a:p>
            <a:p>
              <a:pPr marL="285750" indent="-285750">
                <a:buFontTx/>
                <a:buChar char="-"/>
              </a:pPr>
              <a:r>
                <a:rPr lang="fr-FR" dirty="0"/>
                <a:t>Alerting Discord démonstratif</a:t>
              </a:r>
            </a:p>
          </p:txBody>
        </p:sp>
      </p:grp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85C7AB5-E942-806C-418A-27412AF39EB3}"/>
              </a:ext>
            </a:extLst>
          </p:cNvPr>
          <p:cNvCxnSpPr>
            <a:stCxn id="4" idx="3"/>
            <a:endCxn id="26" idx="1"/>
          </p:cNvCxnSpPr>
          <p:nvPr/>
        </p:nvCxnSpPr>
        <p:spPr>
          <a:xfrm>
            <a:off x="2106751" y="1490625"/>
            <a:ext cx="917764" cy="1024204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48923AD-C759-99A9-16EA-A5552C429BD0}"/>
              </a:ext>
            </a:extLst>
          </p:cNvPr>
          <p:cNvCxnSpPr>
            <a:cxnSpLocks/>
            <a:stCxn id="16" idx="3"/>
            <a:endCxn id="26" idx="1"/>
          </p:cNvCxnSpPr>
          <p:nvPr/>
        </p:nvCxnSpPr>
        <p:spPr>
          <a:xfrm flipV="1">
            <a:off x="2399037" y="2514829"/>
            <a:ext cx="625478" cy="1701277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88FC785-D042-DC57-526E-19DEF6C3B307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 flipV="1">
            <a:off x="2564001" y="2514829"/>
            <a:ext cx="460514" cy="332997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57C93A5-5AB2-423B-7267-7E6E6541708B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 flipV="1">
            <a:off x="5494887" y="1552946"/>
            <a:ext cx="518990" cy="909757"/>
          </a:xfrm>
          <a:prstGeom prst="straightConnector1">
            <a:avLst/>
          </a:prstGeom>
          <a:ln w="19050">
            <a:solidFill>
              <a:srgbClr val="FF7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91397E3-AF62-198E-AF6A-6E999CFC4F93}"/>
              </a:ext>
            </a:extLst>
          </p:cNvPr>
          <p:cNvCxnSpPr>
            <a:cxnSpLocks/>
            <a:stCxn id="28" idx="3"/>
            <a:endCxn id="18" idx="1"/>
          </p:cNvCxnSpPr>
          <p:nvPr/>
        </p:nvCxnSpPr>
        <p:spPr>
          <a:xfrm>
            <a:off x="5494887" y="2462703"/>
            <a:ext cx="524226" cy="1187962"/>
          </a:xfrm>
          <a:prstGeom prst="straightConnector1">
            <a:avLst/>
          </a:prstGeom>
          <a:ln w="19050">
            <a:solidFill>
              <a:srgbClr val="FF7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10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sz="52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3318</TotalTime>
  <Words>327</Words>
  <Application>Microsoft Office PowerPoint</Application>
  <PresentationFormat>Affichage à l'écran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Inter SemiBold</vt:lpstr>
      <vt:lpstr>Inter Medium</vt:lpstr>
      <vt:lpstr>Wingdings</vt:lpstr>
      <vt:lpstr>Simple Light</vt:lpstr>
      <vt:lpstr>1_Simple Light</vt:lpstr>
      <vt:lpstr>Projet Automatic Fraud Detection</vt:lpstr>
      <vt:lpstr>Le point de départ : une transaction entre dans le système</vt:lpstr>
      <vt:lpstr>Une prédiction devient une trace exploitable</vt:lpstr>
      <vt:lpstr>Champion vs Challenger : une promotion contrôlée</vt:lpstr>
      <vt:lpstr>Une chaîne MLOps de bout en bout</vt:lpstr>
      <vt:lpstr>Conclusion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  <cp:lastModifiedBy>Antoine C</cp:lastModifiedBy>
  <cp:revision>89</cp:revision>
  <dcterms:modified xsi:type="dcterms:W3CDTF">2026-06-14T10:18:09Z</dcterms:modified>
</cp:coreProperties>
</file>