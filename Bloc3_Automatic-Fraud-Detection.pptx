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0" r:id="rId2"/>
  </p:sldMasterIdLst>
  <p:notesMasterIdLst>
    <p:notesMasterId r:id="rId10"/>
  </p:notesMasterIdLst>
  <p:sldIdLst>
    <p:sldId id="256" r:id="rId3"/>
    <p:sldId id="257" r:id="rId4"/>
    <p:sldId id="258" r:id="rId5"/>
    <p:sldId id="259" r:id="rId6"/>
    <p:sldId id="264" r:id="rId7"/>
    <p:sldId id="265" r:id="rId8"/>
    <p:sldId id="262" r:id="rId9"/>
  </p:sldIdLst>
  <p:sldSz cx="9144000" cy="5143500" type="screen16x9"/>
  <p:notesSz cx="6858000" cy="9144000"/>
  <p:embeddedFontLst>
    <p:embeddedFont>
      <p:font typeface="Inter Medium" panose="020B0604020202020204" charset="0"/>
      <p:regular r:id="rId11"/>
      <p:bold r:id="rId12"/>
      <p:italic r:id="rId13"/>
      <p:boldItalic r:id="rId14"/>
    </p:embeddedFont>
    <p:embeddedFont>
      <p:font typeface="Inter SemiBold" panose="020B060402020202020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1" roundtripDataSignature="AMtx7mjRpKbBYb5zYLMrPNMhoHya77bVn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200"/>
    <a:srgbClr val="4472C4"/>
    <a:srgbClr val="00AF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8499" autoAdjust="0"/>
  </p:normalViewPr>
  <p:slideViewPr>
    <p:cSldViewPr snapToGrid="0">
      <p:cViewPr varScale="1">
        <p:scale>
          <a:sx n="129" d="100"/>
          <a:sy n="129" d="100"/>
        </p:scale>
        <p:origin x="114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1.xml"/><Relationship Id="rId21" Type="http://customschemas.google.com/relationships/presentationmetadata" Target="metadata"/><Relationship Id="rId7" Type="http://schemas.openxmlformats.org/officeDocument/2006/relationships/slide" Target="slides/slide5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1.fntdata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font" Target="fonts/font5.fntdata"/><Relationship Id="rId23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4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 dirty="0"/>
          </a:p>
        </p:txBody>
      </p:sp>
      <p:sp>
        <p:nvSpPr>
          <p:cNvPr id="97" name="Google Shape;9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521bfe9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 dirty="0"/>
          </a:p>
        </p:txBody>
      </p:sp>
      <p:sp>
        <p:nvSpPr>
          <p:cNvPr id="106" name="Google Shape;106;g3d6521bfe9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 dirty="0"/>
          </a:p>
        </p:txBody>
      </p:sp>
      <p:sp>
        <p:nvSpPr>
          <p:cNvPr id="118" name="Google Shape;11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d6521bfe93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 dirty="0"/>
          </a:p>
        </p:txBody>
      </p:sp>
      <p:sp>
        <p:nvSpPr>
          <p:cNvPr id="129" name="Google Shape;129;g3d6521bfe93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d6521bfe93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 dirty="0"/>
          </a:p>
        </p:txBody>
      </p:sp>
      <p:sp>
        <p:nvSpPr>
          <p:cNvPr id="129" name="Google Shape;129;g3d6521bfe93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5A5DEB73-E495-2979-A01D-53053CB34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2:notes">
            <a:extLst>
              <a:ext uri="{FF2B5EF4-FFF2-40B4-BE49-F238E27FC236}">
                <a16:creationId xmlns:a16="http://schemas.microsoft.com/office/drawing/2014/main" id="{7C210CC1-ED3C-08C7-3FD0-12D8185A8D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 dirty="0"/>
          </a:p>
        </p:txBody>
      </p:sp>
      <p:sp>
        <p:nvSpPr>
          <p:cNvPr id="149" name="Google Shape;149;p12:notes">
            <a:extLst>
              <a:ext uri="{FF2B5EF4-FFF2-40B4-BE49-F238E27FC236}">
                <a16:creationId xmlns:a16="http://schemas.microsoft.com/office/drawing/2014/main" id="{9DE40071-5EF3-6E01-54A5-8F8AD51960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441112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 dirty="0"/>
          </a:p>
        </p:txBody>
      </p:sp>
      <p:sp>
        <p:nvSpPr>
          <p:cNvPr id="165" name="Google Shape;165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2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2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3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3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3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3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60" name="Google Shape;60;p3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61" name="Google Shape;61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4" name="Google Shape;64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8" name="Google Shape;68;p3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" name="Google Shape;69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3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3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6" name="Google Shape;76;p3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3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9" name="Google Shape;79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4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4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3" name="Google Shape;83;p4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4" name="Google Shape;84;p4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5" name="Google Shape;85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8" name="Google Shape;88;p4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2"/>
          <p:cNvSpPr txBox="1">
            <a:spLocks noGrp="1"/>
          </p:cNvSpPr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endParaRPr/>
          </a:p>
        </p:txBody>
      </p:sp>
      <p:sp>
        <p:nvSpPr>
          <p:cNvPr id="91" name="Google Shape;91;p4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2" name="Google Shape;92;p4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4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"/>
          <p:cNvSpPr txBox="1">
            <a:spLocks noGrp="1"/>
          </p:cNvSpPr>
          <p:nvPr>
            <p:ph type="ctrTitle"/>
          </p:nvPr>
        </p:nvSpPr>
        <p:spPr>
          <a:xfrm>
            <a:off x="735474" y="1533146"/>
            <a:ext cx="8285684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Projet </a:t>
            </a:r>
            <a:r>
              <a:rPr lang="fr-FR" sz="40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Automatic</a:t>
            </a: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  <a:r>
              <a:rPr lang="fr-FR" sz="40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Fraud</a:t>
            </a: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Detection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00" name="Google Shape;100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0550" y="430537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"/>
          <p:cNvSpPr txBox="1">
            <a:spLocks noGrp="1"/>
          </p:cNvSpPr>
          <p:nvPr>
            <p:ph type="ctrTitle"/>
          </p:nvPr>
        </p:nvSpPr>
        <p:spPr>
          <a:xfrm>
            <a:off x="148175" y="2547750"/>
            <a:ext cx="7932741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lvl="0" algn="l">
              <a:buSzPct val="231111"/>
            </a:pPr>
            <a:r>
              <a:rPr lang="fr-FR" sz="2800" dirty="0">
                <a:solidFill>
                  <a:schemeClr val="bg1"/>
                </a:solidFill>
              </a:rPr>
              <a:t>Pipeline MLOps automatisé pour détecter, alerter et réentraîner un modèle de fraude</a:t>
            </a:r>
            <a:endParaRPr sz="2500" dirty="0">
              <a:solidFill>
                <a:schemeClr val="bg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03" name="Google Shape;103;p1"/>
          <p:cNvSpPr txBox="1"/>
          <p:nvPr/>
        </p:nvSpPr>
        <p:spPr>
          <a:xfrm>
            <a:off x="8472458" y="4939381"/>
            <a:ext cx="5487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fr-FR"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000"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d6521bfe93_0_0"/>
          <p:cNvSpPr txBox="1">
            <a:spLocks noGrp="1"/>
          </p:cNvSpPr>
          <p:nvPr>
            <p:ph type="ctrTitle" idx="4294967295"/>
          </p:nvPr>
        </p:nvSpPr>
        <p:spPr>
          <a:xfrm>
            <a:off x="921837" y="129373"/>
            <a:ext cx="798427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200" dirty="0">
                <a:solidFill>
                  <a:srgbClr val="0E3449"/>
                </a:solidFill>
                <a:latin typeface="Inter SemiBold"/>
                <a:ea typeface="Inter SemiBold"/>
              </a:rPr>
              <a:t>Le point de départ : une transaction entre dans le système</a:t>
            </a:r>
            <a:endParaRPr sz="22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109" name="Google Shape;109;g3d6521bfe93_0_0"/>
          <p:cNvSpPr/>
          <p:nvPr/>
        </p:nvSpPr>
        <p:spPr>
          <a:xfrm>
            <a:off x="260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0" name="Google Shape;110;g3d6521bfe93_0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7619" y="140089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g3d6521bfe93_0_0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2</a:t>
            </a:fld>
            <a:endParaRPr dirty="0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2FF25335-D7F9-7563-766B-B0CF971C1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966" y="782647"/>
            <a:ext cx="8854068" cy="2423495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2DA9DB0C-EAE5-9C14-28B4-EAF205F8B19B}"/>
              </a:ext>
            </a:extLst>
          </p:cNvPr>
          <p:cNvSpPr txBox="1"/>
          <p:nvPr/>
        </p:nvSpPr>
        <p:spPr>
          <a:xfrm>
            <a:off x="6066267" y="3370462"/>
            <a:ext cx="2494156" cy="1384995"/>
          </a:xfrm>
          <a:prstGeom prst="rect">
            <a:avLst/>
          </a:prstGeom>
          <a:noFill/>
          <a:ln>
            <a:solidFill>
              <a:srgbClr val="FF7200"/>
            </a:solidFill>
          </a:ln>
        </p:spPr>
        <p:txBody>
          <a:bodyPr wrap="square">
            <a:spAutoFit/>
          </a:bodyPr>
          <a:lstStyle/>
          <a:p>
            <a:r>
              <a:rPr lang="fr-FR" sz="1200" b="1" dirty="0"/>
              <a:t>Paramètres d’inférence :</a:t>
            </a:r>
            <a:br>
              <a:rPr lang="fr-FR" sz="1200" dirty="0"/>
            </a:br>
            <a:br>
              <a:rPr lang="fr-FR" sz="1200" dirty="0"/>
            </a:br>
            <a:r>
              <a:rPr lang="fr-FR" sz="1200" dirty="0"/>
              <a:t>Modèle de production</a:t>
            </a:r>
            <a:br>
              <a:rPr lang="fr-FR" sz="1200" dirty="0"/>
            </a:br>
            <a:r>
              <a:rPr lang="fr-FR" sz="1200" dirty="0"/>
              <a:t>Alias MLflow : champion</a:t>
            </a:r>
            <a:br>
              <a:rPr lang="fr-FR" sz="1200" dirty="0"/>
            </a:br>
            <a:br>
              <a:rPr lang="fr-FR" sz="1200" dirty="0"/>
            </a:br>
            <a:r>
              <a:rPr lang="fr-FR" sz="1200" dirty="0"/>
              <a:t>Seuil production : 0.90</a:t>
            </a:r>
            <a:br>
              <a:rPr lang="fr-FR" sz="1200" dirty="0"/>
            </a:br>
            <a:r>
              <a:rPr lang="fr-FR" sz="1200" dirty="0"/>
              <a:t>Règle : proba fraude ≥ seuil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2CA7EBF1-D5AA-FA67-808F-BBF43BF415C3}"/>
              </a:ext>
            </a:extLst>
          </p:cNvPr>
          <p:cNvSpPr txBox="1"/>
          <p:nvPr/>
        </p:nvSpPr>
        <p:spPr>
          <a:xfrm>
            <a:off x="744519" y="3448919"/>
            <a:ext cx="4471103" cy="1200329"/>
          </a:xfrm>
          <a:prstGeom prst="rect">
            <a:avLst/>
          </a:prstGeom>
          <a:noFill/>
          <a:ln>
            <a:solidFill>
              <a:srgbClr val="FF7200"/>
            </a:solidFill>
          </a:ln>
        </p:spPr>
        <p:txBody>
          <a:bodyPr wrap="square">
            <a:spAutoFit/>
          </a:bodyPr>
          <a:lstStyle/>
          <a:p>
            <a:r>
              <a:rPr lang="fr-FR" sz="1200" b="1" dirty="0"/>
              <a:t>À noter :</a:t>
            </a:r>
          </a:p>
          <a:p>
            <a:br>
              <a:rPr lang="fr-FR" sz="1200" dirty="0"/>
            </a:br>
            <a:r>
              <a:rPr lang="fr-FR" sz="1200" dirty="0"/>
              <a:t>l’API simulée fournit aussi « is_fraud », mais ce label n’est pas utilisé pour prédire.</a:t>
            </a:r>
            <a:br>
              <a:rPr lang="fr-FR" sz="1200" dirty="0"/>
            </a:br>
            <a:r>
              <a:rPr lang="fr-FR" sz="1200" dirty="0"/>
              <a:t>Il sert à simuler la validation métier et à alimenter le futur réentraînement.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"/>
          <p:cNvSpPr txBox="1">
            <a:spLocks noGrp="1"/>
          </p:cNvSpPr>
          <p:nvPr>
            <p:ph type="ctrTitle" idx="4294967295"/>
          </p:nvPr>
        </p:nvSpPr>
        <p:spPr>
          <a:xfrm>
            <a:off x="2029522" y="24389"/>
            <a:ext cx="7114478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400" dirty="0">
                <a:solidFill>
                  <a:srgbClr val="0E3449"/>
                </a:solidFill>
                <a:latin typeface="Inter SemiBold"/>
                <a:ea typeface="Inter SemiBold"/>
              </a:rPr>
              <a:t>Une prédiction devient une trace exploitable</a:t>
            </a:r>
            <a:endParaRPr sz="24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260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2" name="Google Shape;12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17161" y="97987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3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3</a:t>
            </a:fld>
            <a:endParaRPr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E69B3AB-19DE-946A-9EFD-E5653780746E}"/>
              </a:ext>
            </a:extLst>
          </p:cNvPr>
          <p:cNvSpPr txBox="1"/>
          <p:nvPr/>
        </p:nvSpPr>
        <p:spPr>
          <a:xfrm>
            <a:off x="689633" y="4564566"/>
            <a:ext cx="7924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Le système ne se limite pas à prédire : il conserve, notifie et prépare la boucle de réapprentissage.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7C86BED8-96D1-8F8E-D6F7-22C2B345FD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262" y="588036"/>
            <a:ext cx="8463543" cy="387238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d6521bfe93_0_9"/>
          <p:cNvSpPr txBox="1">
            <a:spLocks noGrp="1"/>
          </p:cNvSpPr>
          <p:nvPr>
            <p:ph type="ctrTitle" idx="4294967295"/>
          </p:nvPr>
        </p:nvSpPr>
        <p:spPr>
          <a:xfrm>
            <a:off x="1486832" y="119968"/>
            <a:ext cx="7538224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400" dirty="0">
                <a:solidFill>
                  <a:srgbClr val="0E3449"/>
                </a:solidFill>
                <a:latin typeface="Inter SemiBold"/>
                <a:ea typeface="Inter SemiBold"/>
              </a:rPr>
              <a:t>Champion vs Challenger : une promotion contrôlée</a:t>
            </a:r>
            <a:endParaRPr sz="24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132" name="Google Shape;132;g3d6521bfe93_0_9"/>
          <p:cNvSpPr/>
          <p:nvPr/>
        </p:nvSpPr>
        <p:spPr>
          <a:xfrm>
            <a:off x="260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3" name="Google Shape;133;g3d6521bfe93_0_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25010" y="193566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g3d6521bfe93_0_9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4</a:t>
            </a:fld>
            <a:endParaRPr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1D9AC328-19A7-5BFB-72F3-23919984BEC0}"/>
              </a:ext>
            </a:extLst>
          </p:cNvPr>
          <p:cNvSpPr txBox="1"/>
          <p:nvPr/>
        </p:nvSpPr>
        <p:spPr>
          <a:xfrm>
            <a:off x="360378" y="700424"/>
            <a:ext cx="86607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/>
              <a:t>Le pipeline réentraîne plusieurs candidats, puis ne promeut le meilleur que si les critères sont respectés.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FECBEDA3-A63E-03A7-042F-51A05D683F9B}"/>
              </a:ext>
            </a:extLst>
          </p:cNvPr>
          <p:cNvSpPr txBox="1"/>
          <p:nvPr/>
        </p:nvSpPr>
        <p:spPr>
          <a:xfrm>
            <a:off x="2921551" y="4590600"/>
            <a:ext cx="3300897" cy="276999"/>
          </a:xfrm>
          <a:prstGeom prst="rect">
            <a:avLst/>
          </a:prstGeom>
          <a:noFill/>
          <a:ln>
            <a:solidFill>
              <a:srgbClr val="FF7200"/>
            </a:solidFill>
          </a:ln>
        </p:spPr>
        <p:txBody>
          <a:bodyPr wrap="square" rtlCol="0">
            <a:spAutoFit/>
          </a:bodyPr>
          <a:lstStyle/>
          <a:p>
            <a:r>
              <a:rPr lang="fr-FR" sz="1200" dirty="0"/>
              <a:t>Décision historisée dans model_cd_decisions</a:t>
            </a:r>
          </a:p>
        </p:txBody>
      </p: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A764C11B-2574-EA3B-4AA4-E9D003FFC697}"/>
              </a:ext>
            </a:extLst>
          </p:cNvPr>
          <p:cNvGrpSpPr/>
          <p:nvPr/>
        </p:nvGrpSpPr>
        <p:grpSpPr>
          <a:xfrm>
            <a:off x="343832" y="1042537"/>
            <a:ext cx="8402976" cy="3392800"/>
            <a:chOff x="343832" y="1217556"/>
            <a:chExt cx="8402976" cy="3392800"/>
          </a:xfrm>
        </p:grpSpPr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43B4A0F5-ADE3-DBC3-0A1D-8300CA987AB2}"/>
                </a:ext>
              </a:extLst>
            </p:cNvPr>
            <p:cNvSpPr txBox="1"/>
            <p:nvPr/>
          </p:nvSpPr>
          <p:spPr>
            <a:xfrm>
              <a:off x="343832" y="1295844"/>
              <a:ext cx="2286000" cy="830997"/>
            </a:xfrm>
            <a:prstGeom prst="rect">
              <a:avLst/>
            </a:prstGeom>
            <a:noFill/>
            <a:ln>
              <a:solidFill>
                <a:srgbClr val="4472C4"/>
              </a:solidFill>
            </a:ln>
          </p:spPr>
          <p:txBody>
            <a:bodyPr wrap="square">
              <a:spAutoFit/>
            </a:bodyPr>
            <a:lstStyle/>
            <a:p>
              <a:r>
                <a:rPr lang="fr-FR" sz="1200" b="1" dirty="0"/>
                <a:t>Champion</a:t>
              </a:r>
            </a:p>
            <a:p>
              <a:br>
                <a:rPr lang="fr-FR" sz="1200" dirty="0"/>
              </a:br>
              <a:r>
                <a:rPr lang="fr-FR" sz="1200" dirty="0"/>
                <a:t>Modèle actuellement utilisé en production via MLflow.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749B384E-BA4E-4ED6-9B23-3F0DB6538EC8}"/>
                </a:ext>
              </a:extLst>
            </p:cNvPr>
            <p:cNvSpPr txBox="1"/>
            <p:nvPr/>
          </p:nvSpPr>
          <p:spPr>
            <a:xfrm>
              <a:off x="6460808" y="1295395"/>
              <a:ext cx="2286000" cy="83099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txBody>
            <a:bodyPr wrap="square">
              <a:spAutoFit/>
            </a:bodyPr>
            <a:lstStyle/>
            <a:p>
              <a:r>
                <a:rPr lang="fr-FR" sz="1200" b="1" dirty="0"/>
                <a:t>Challenger</a:t>
              </a:r>
            </a:p>
            <a:p>
              <a:br>
                <a:rPr lang="fr-FR" sz="1200" dirty="0"/>
              </a:br>
              <a:r>
                <a:rPr lang="fr-FR" sz="1200" dirty="0"/>
                <a:t>Meilleur modèle candidat issu du réentraînement.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666DF770-FC62-902D-10CF-00FEE9DCF8D3}"/>
                </a:ext>
              </a:extLst>
            </p:cNvPr>
            <p:cNvSpPr txBox="1"/>
            <p:nvPr/>
          </p:nvSpPr>
          <p:spPr>
            <a:xfrm>
              <a:off x="3213348" y="1217556"/>
              <a:ext cx="2663944" cy="1938992"/>
            </a:xfrm>
            <a:prstGeom prst="rect">
              <a:avLst/>
            </a:prstGeom>
            <a:noFill/>
            <a:ln>
              <a:solidFill>
                <a:srgbClr val="FF7200"/>
              </a:solidFill>
            </a:ln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fr-FR" sz="1200" b="1" dirty="0"/>
                <a:t>Critères de comparaison</a:t>
              </a:r>
            </a:p>
            <a:p>
              <a:pPr>
                <a:buNone/>
              </a:pPr>
              <a:endParaRPr lang="fr-FR" sz="1200" dirty="0"/>
            </a:p>
            <a:p>
              <a:pPr marL="285750" indent="-285750">
                <a:buFontTx/>
                <a:buChar char="-"/>
              </a:pPr>
              <a:r>
                <a:rPr lang="fr-FR" sz="1200" dirty="0"/>
                <a:t>average_precision</a:t>
              </a:r>
            </a:p>
            <a:p>
              <a:pPr marL="285750" indent="-285750">
                <a:buFontTx/>
                <a:buChar char="-"/>
              </a:pPr>
              <a:r>
                <a:rPr lang="fr-FR" sz="1200" dirty="0"/>
                <a:t>recall fraude au seuil de production : 0.90</a:t>
              </a:r>
            </a:p>
            <a:p>
              <a:pPr marL="285750" indent="-285750">
                <a:buFontTx/>
                <a:buChar char="-"/>
              </a:pPr>
              <a:r>
                <a:rPr lang="fr-FR" sz="1200" dirty="0"/>
                <a:t>precision fraude au seuil de production : 0.90</a:t>
              </a:r>
            </a:p>
            <a:p>
              <a:pPr marL="285750" indent="-285750">
                <a:buFontTx/>
                <a:buChar char="-"/>
              </a:pPr>
              <a:endParaRPr lang="fr-FR" sz="1200" dirty="0"/>
            </a:p>
            <a:p>
              <a:r>
                <a:rPr lang="fr-FR" sz="1200" b="1" dirty="0"/>
                <a:t>Seuil de production :</a:t>
              </a:r>
            </a:p>
            <a:p>
              <a:r>
                <a:rPr lang="fr-FR" sz="1200" dirty="0"/>
                <a:t>- Proba fraude &gt;= 0.90</a:t>
              </a:r>
            </a:p>
          </p:txBody>
        </p:sp>
        <p:cxnSp>
          <p:nvCxnSpPr>
            <p:cNvPr id="20" name="Connecteur : en angle 19">
              <a:extLst>
                <a:ext uri="{FF2B5EF4-FFF2-40B4-BE49-F238E27FC236}">
                  <a16:creationId xmlns:a16="http://schemas.microsoft.com/office/drawing/2014/main" id="{FD945904-BCEC-A66A-C195-A6AE15A5A503}"/>
                </a:ext>
              </a:extLst>
            </p:cNvPr>
            <p:cNvCxnSpPr>
              <a:stCxn id="5" idx="2"/>
              <a:endCxn id="11" idx="1"/>
            </p:cNvCxnSpPr>
            <p:nvPr/>
          </p:nvCxnSpPr>
          <p:spPr>
            <a:xfrm rot="16200000" flipH="1">
              <a:off x="1784313" y="1829359"/>
              <a:ext cx="1341569" cy="1936531"/>
            </a:xfrm>
            <a:prstGeom prst="bent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 : en angle 21">
              <a:extLst>
                <a:ext uri="{FF2B5EF4-FFF2-40B4-BE49-F238E27FC236}">
                  <a16:creationId xmlns:a16="http://schemas.microsoft.com/office/drawing/2014/main" id="{4B3A6246-F68A-BBD9-4DD0-B35374D8AAAF}"/>
                </a:ext>
              </a:extLst>
            </p:cNvPr>
            <p:cNvCxnSpPr>
              <a:stCxn id="7" idx="2"/>
              <a:endCxn id="11" idx="3"/>
            </p:cNvCxnSpPr>
            <p:nvPr/>
          </p:nvCxnSpPr>
          <p:spPr>
            <a:xfrm rot="5400000">
              <a:off x="5964534" y="1829136"/>
              <a:ext cx="1342018" cy="1936531"/>
            </a:xfrm>
            <a:prstGeom prst="bent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Groupe 26">
              <a:extLst>
                <a:ext uri="{FF2B5EF4-FFF2-40B4-BE49-F238E27FC236}">
                  <a16:creationId xmlns:a16="http://schemas.microsoft.com/office/drawing/2014/main" id="{4EE7CB8D-1178-E66C-9983-8D37558649D9}"/>
                </a:ext>
              </a:extLst>
            </p:cNvPr>
            <p:cNvGrpSpPr/>
            <p:nvPr/>
          </p:nvGrpSpPr>
          <p:grpSpPr>
            <a:xfrm>
              <a:off x="3213348" y="3329910"/>
              <a:ext cx="2663944" cy="1280446"/>
              <a:chOff x="3213348" y="3370933"/>
              <a:chExt cx="2663944" cy="1280446"/>
            </a:xfrm>
          </p:grpSpPr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583B7340-60DB-C45D-5B03-38BC41EBAC0F}"/>
                  </a:ext>
                </a:extLst>
              </p:cNvPr>
              <p:cNvSpPr txBox="1"/>
              <p:nvPr/>
            </p:nvSpPr>
            <p:spPr>
              <a:xfrm>
                <a:off x="3423363" y="3370933"/>
                <a:ext cx="2243914" cy="276999"/>
              </a:xfrm>
              <a:prstGeom prst="rect">
                <a:avLst/>
              </a:prstGeom>
              <a:noFill/>
              <a:ln>
                <a:solidFill>
                  <a:srgbClr val="FF7200"/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fr-FR" sz="1200" b="1" dirty="0"/>
                  <a:t>Décision CD du modèle</a:t>
                </a:r>
                <a:endParaRPr lang="fr-FR" sz="1200" dirty="0"/>
              </a:p>
            </p:txBody>
          </p:sp>
          <p:grpSp>
            <p:nvGrpSpPr>
              <p:cNvPr id="17" name="Groupe 16">
                <a:extLst>
                  <a:ext uri="{FF2B5EF4-FFF2-40B4-BE49-F238E27FC236}">
                    <a16:creationId xmlns:a16="http://schemas.microsoft.com/office/drawing/2014/main" id="{E1880BE6-68E4-E716-FFBF-A007A68C4C03}"/>
                  </a:ext>
                </a:extLst>
              </p:cNvPr>
              <p:cNvGrpSpPr/>
              <p:nvPr/>
            </p:nvGrpSpPr>
            <p:grpSpPr>
              <a:xfrm>
                <a:off x="3213348" y="4374380"/>
                <a:ext cx="2663944" cy="276999"/>
                <a:chOff x="3101804" y="4318696"/>
                <a:chExt cx="2653455" cy="276999"/>
              </a:xfrm>
            </p:grpSpPr>
            <p:sp>
              <p:nvSpPr>
                <p:cNvPr id="13" name="ZoneTexte 12">
                  <a:extLst>
                    <a:ext uri="{FF2B5EF4-FFF2-40B4-BE49-F238E27FC236}">
                      <a16:creationId xmlns:a16="http://schemas.microsoft.com/office/drawing/2014/main" id="{D7AD7F1A-1B03-093B-FDCA-9FB24F1E25B5}"/>
                    </a:ext>
                  </a:extLst>
                </p:cNvPr>
                <p:cNvSpPr txBox="1"/>
                <p:nvPr/>
              </p:nvSpPr>
              <p:spPr>
                <a:xfrm>
                  <a:off x="3101804" y="4318696"/>
                  <a:ext cx="1070579" cy="276999"/>
                </a:xfrm>
                <a:prstGeom prst="rect">
                  <a:avLst/>
                </a:prstGeom>
                <a:noFill/>
                <a:ln>
                  <a:solidFill>
                    <a:srgbClr val="00B050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>
                    <a:buNone/>
                  </a:pPr>
                  <a:r>
                    <a:rPr lang="fr-FR" sz="1200" b="1" dirty="0"/>
                    <a:t>Promotion</a:t>
                  </a:r>
                  <a:endParaRPr lang="fr-FR" sz="1200" dirty="0"/>
                </a:p>
              </p:txBody>
            </p:sp>
            <p:sp>
              <p:nvSpPr>
                <p:cNvPr id="15" name="ZoneTexte 14">
                  <a:extLst>
                    <a:ext uri="{FF2B5EF4-FFF2-40B4-BE49-F238E27FC236}">
                      <a16:creationId xmlns:a16="http://schemas.microsoft.com/office/drawing/2014/main" id="{E1C41567-47F9-B8FE-2260-8FF7649ACAE2}"/>
                    </a:ext>
                  </a:extLst>
                </p:cNvPr>
                <p:cNvSpPr txBox="1"/>
                <p:nvPr/>
              </p:nvSpPr>
              <p:spPr>
                <a:xfrm>
                  <a:off x="4971619" y="4318696"/>
                  <a:ext cx="783640" cy="276999"/>
                </a:xfrm>
                <a:prstGeom prst="rect">
                  <a:avLst/>
                </a:prstGeom>
                <a:noFill/>
                <a:ln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>
                    <a:buNone/>
                  </a:pPr>
                  <a:r>
                    <a:rPr lang="fr-FR" sz="1200" b="1" dirty="0"/>
                    <a:t>Rejet</a:t>
                  </a:r>
                  <a:endParaRPr lang="fr-FR" sz="1200" dirty="0"/>
                </a:p>
              </p:txBody>
            </p:sp>
            <p:sp>
              <p:nvSpPr>
                <p:cNvPr id="16" name="ZoneTexte 15">
                  <a:extLst>
                    <a:ext uri="{FF2B5EF4-FFF2-40B4-BE49-F238E27FC236}">
                      <a16:creationId xmlns:a16="http://schemas.microsoft.com/office/drawing/2014/main" id="{F5D7BCC4-7913-2985-13AC-A70EBED940B9}"/>
                    </a:ext>
                  </a:extLst>
                </p:cNvPr>
                <p:cNvSpPr txBox="1"/>
                <p:nvPr/>
              </p:nvSpPr>
              <p:spPr>
                <a:xfrm>
                  <a:off x="4387442" y="4318696"/>
                  <a:ext cx="3531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1200" dirty="0"/>
                    <a:t>ou</a:t>
                  </a:r>
                </a:p>
              </p:txBody>
            </p:sp>
          </p:grpSp>
          <p:cxnSp>
            <p:nvCxnSpPr>
              <p:cNvPr id="24" name="Connecteur droit avec flèche 23">
                <a:extLst>
                  <a:ext uri="{FF2B5EF4-FFF2-40B4-BE49-F238E27FC236}">
                    <a16:creationId xmlns:a16="http://schemas.microsoft.com/office/drawing/2014/main" id="{A955FCF7-4C1B-663B-5DBB-5BB3A8AD2D32}"/>
                  </a:ext>
                </a:extLst>
              </p:cNvPr>
              <p:cNvCxnSpPr>
                <a:stCxn id="11" idx="2"/>
                <a:endCxn id="13" idx="0"/>
              </p:cNvCxnSpPr>
              <p:nvPr/>
            </p:nvCxnSpPr>
            <p:spPr>
              <a:xfrm flipH="1">
                <a:off x="3750754" y="3647932"/>
                <a:ext cx="794566" cy="72644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Connecteur droit avec flèche 25">
                <a:extLst>
                  <a:ext uri="{FF2B5EF4-FFF2-40B4-BE49-F238E27FC236}">
                    <a16:creationId xmlns:a16="http://schemas.microsoft.com/office/drawing/2014/main" id="{AE6F3159-32D3-8651-9E3D-677CEC60F635}"/>
                  </a:ext>
                </a:extLst>
              </p:cNvPr>
              <p:cNvCxnSpPr>
                <a:stCxn id="11" idx="2"/>
                <a:endCxn id="15" idx="0"/>
              </p:cNvCxnSpPr>
              <p:nvPr/>
            </p:nvCxnSpPr>
            <p:spPr>
              <a:xfrm>
                <a:off x="4545320" y="3647932"/>
                <a:ext cx="938603" cy="72644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9" name="ZoneTexte 28">
            <a:extLst>
              <a:ext uri="{FF2B5EF4-FFF2-40B4-BE49-F238E27FC236}">
                <a16:creationId xmlns:a16="http://schemas.microsoft.com/office/drawing/2014/main" id="{A2B4F4D7-C50E-702C-222D-3083C70073F5}"/>
              </a:ext>
            </a:extLst>
          </p:cNvPr>
          <p:cNvSpPr txBox="1"/>
          <p:nvPr/>
        </p:nvSpPr>
        <p:spPr>
          <a:xfrm>
            <a:off x="74761" y="3516985"/>
            <a:ext cx="8994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Le challenger n’est promu que s’il améliore la performance globale d’au moins 0.1 sans dégrader les métriques fraude au seuil opérationnel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d6521bfe93_0_9"/>
          <p:cNvSpPr txBox="1">
            <a:spLocks noGrp="1"/>
          </p:cNvSpPr>
          <p:nvPr>
            <p:ph type="ctrTitle" idx="4294967295"/>
          </p:nvPr>
        </p:nvSpPr>
        <p:spPr>
          <a:xfrm>
            <a:off x="850652" y="58523"/>
            <a:ext cx="4498588" cy="385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000" dirty="0">
                <a:solidFill>
                  <a:srgbClr val="0E3449"/>
                </a:solidFill>
                <a:latin typeface="Inter SemiBold"/>
                <a:ea typeface="Inter SemiBold"/>
              </a:rPr>
              <a:t>Une chaîne MLOps de bout en bout</a:t>
            </a:r>
            <a:endParaRPr sz="20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132" name="Google Shape;132;g3d6521bfe93_0_9"/>
          <p:cNvSpPr/>
          <p:nvPr/>
        </p:nvSpPr>
        <p:spPr>
          <a:xfrm>
            <a:off x="260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3" name="Google Shape;133;g3d6521bfe93_0_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5961" y="62698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g3d6521bfe93_0_9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5</a:t>
            </a:fld>
            <a:endParaRPr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9F969D0-1551-DC09-98A9-A4E4D302FA11}"/>
              </a:ext>
            </a:extLst>
          </p:cNvPr>
          <p:cNvSpPr txBox="1"/>
          <p:nvPr/>
        </p:nvSpPr>
        <p:spPr>
          <a:xfrm>
            <a:off x="0" y="2339340"/>
            <a:ext cx="242055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Le projet relie l’inférence, la qualité, l’alerting, le stockage, le réentraînement et la promotion modèle.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211E38C-280D-2958-2B00-87FEC39468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0559" y="444427"/>
            <a:ext cx="6600599" cy="442841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>
          <a:extLst>
            <a:ext uri="{FF2B5EF4-FFF2-40B4-BE49-F238E27FC236}">
              <a16:creationId xmlns:a16="http://schemas.microsoft.com/office/drawing/2014/main" id="{7E764C1B-D241-90DB-7BF6-80D847F1E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2">
            <a:extLst>
              <a:ext uri="{FF2B5EF4-FFF2-40B4-BE49-F238E27FC236}">
                <a16:creationId xmlns:a16="http://schemas.microsoft.com/office/drawing/2014/main" id="{9E588378-0F16-19F0-931C-A886587FF32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2971428" y="53365"/>
            <a:ext cx="2130625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Conclusion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152" name="Google Shape;152;p12">
            <a:extLst>
              <a:ext uri="{FF2B5EF4-FFF2-40B4-BE49-F238E27FC236}">
                <a16:creationId xmlns:a16="http://schemas.microsoft.com/office/drawing/2014/main" id="{E6948072-E658-EB77-1A96-79C289B0EDD8}"/>
              </a:ext>
            </a:extLst>
          </p:cNvPr>
          <p:cNvSpPr/>
          <p:nvPr/>
        </p:nvSpPr>
        <p:spPr>
          <a:xfrm>
            <a:off x="260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3" name="Google Shape;153;p12">
            <a:extLst>
              <a:ext uri="{FF2B5EF4-FFF2-40B4-BE49-F238E27FC236}">
                <a16:creationId xmlns:a16="http://schemas.microsoft.com/office/drawing/2014/main" id="{1C185566-518C-E642-1691-219E66080B0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12793" y="10136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2">
            <a:extLst>
              <a:ext uri="{FF2B5EF4-FFF2-40B4-BE49-F238E27FC236}">
                <a16:creationId xmlns:a16="http://schemas.microsoft.com/office/drawing/2014/main" id="{F5AA90CB-0FDF-1BA2-7379-E68B60439CC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6</a:t>
            </a:fld>
            <a:endParaRPr dirty="0"/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2DFD1A14-80AE-108D-8339-7150BDED6C0E}"/>
              </a:ext>
            </a:extLst>
          </p:cNvPr>
          <p:cNvGrpSpPr/>
          <p:nvPr/>
        </p:nvGrpSpPr>
        <p:grpSpPr>
          <a:xfrm>
            <a:off x="90935" y="836075"/>
            <a:ext cx="2015816" cy="1301875"/>
            <a:chOff x="190500" y="784860"/>
            <a:chExt cx="2015816" cy="1301875"/>
          </a:xfrm>
        </p:grpSpPr>
        <p:sp>
          <p:nvSpPr>
            <p:cNvPr id="3" name="Rectangle : coins arrondis 2">
              <a:extLst>
                <a:ext uri="{FF2B5EF4-FFF2-40B4-BE49-F238E27FC236}">
                  <a16:creationId xmlns:a16="http://schemas.microsoft.com/office/drawing/2014/main" id="{45963E76-9565-49A3-CB5D-B79C920D311D}"/>
                </a:ext>
              </a:extLst>
            </p:cNvPr>
            <p:cNvSpPr/>
            <p:nvPr/>
          </p:nvSpPr>
          <p:spPr>
            <a:xfrm>
              <a:off x="190500" y="784860"/>
              <a:ext cx="2015816" cy="1301875"/>
            </a:xfrm>
            <a:prstGeom prst="roundRect">
              <a:avLst/>
            </a:prstGeom>
            <a:noFill/>
            <a:ln>
              <a:solidFill>
                <a:srgbClr val="FF72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" name="ZoneTexte 3">
              <a:extLst>
                <a:ext uri="{FF2B5EF4-FFF2-40B4-BE49-F238E27FC236}">
                  <a16:creationId xmlns:a16="http://schemas.microsoft.com/office/drawing/2014/main" id="{AB50887A-A9A9-91BA-99C7-65A1206A0507}"/>
                </a:ext>
              </a:extLst>
            </p:cNvPr>
            <p:cNvSpPr txBox="1"/>
            <p:nvPr/>
          </p:nvSpPr>
          <p:spPr>
            <a:xfrm>
              <a:off x="268001" y="854634"/>
              <a:ext cx="1938315" cy="11695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/>
                <a:t>Inférence </a:t>
              </a:r>
              <a:r>
                <a:rPr lang="fr-FR" dirty="0"/>
                <a:t>:</a:t>
              </a:r>
            </a:p>
            <a:p>
              <a:endParaRPr lang="fr-FR" dirty="0"/>
            </a:p>
            <a:p>
              <a:pPr marL="285750" indent="-285750">
                <a:buFont typeface="Wingdings" panose="05000000000000000000" pitchFamily="2" charset="2"/>
                <a:buChar char="ü"/>
              </a:pPr>
              <a:r>
                <a:rPr lang="fr-FR" dirty="0"/>
                <a:t>DAG Airflow</a:t>
              </a:r>
            </a:p>
            <a:p>
              <a:pPr marL="285750" indent="-285750">
                <a:buFont typeface="Wingdings" panose="05000000000000000000" pitchFamily="2" charset="2"/>
                <a:buChar char="ü"/>
              </a:pPr>
              <a:r>
                <a:rPr lang="fr-FR" dirty="0"/>
                <a:t>Scoring champion</a:t>
              </a:r>
            </a:p>
            <a:p>
              <a:pPr marL="285750" indent="-285750">
                <a:buFont typeface="Wingdings" panose="05000000000000000000" pitchFamily="2" charset="2"/>
                <a:buChar char="ü"/>
              </a:pPr>
              <a:r>
                <a:rPr lang="fr-FR" dirty="0"/>
                <a:t>Alerting Discord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172C72CD-FB7C-CEE0-2A37-25B94D33EF41}"/>
              </a:ext>
            </a:extLst>
          </p:cNvPr>
          <p:cNvGrpSpPr/>
          <p:nvPr/>
        </p:nvGrpSpPr>
        <p:grpSpPr>
          <a:xfrm>
            <a:off x="90935" y="2200500"/>
            <a:ext cx="2475294" cy="1301875"/>
            <a:chOff x="5900992" y="764168"/>
            <a:chExt cx="2475294" cy="1301875"/>
          </a:xfrm>
        </p:grpSpPr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ED3F901B-FB72-303A-5571-50381A4CB774}"/>
                </a:ext>
              </a:extLst>
            </p:cNvPr>
            <p:cNvSpPr/>
            <p:nvPr/>
          </p:nvSpPr>
          <p:spPr>
            <a:xfrm>
              <a:off x="5900992" y="764168"/>
              <a:ext cx="2475294" cy="1301875"/>
            </a:xfrm>
            <a:prstGeom prst="roundRect">
              <a:avLst/>
            </a:prstGeom>
            <a:noFill/>
            <a:ln>
              <a:solidFill>
                <a:srgbClr val="FF72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B09C80BE-C900-E8FD-3098-9E7C12929135}"/>
                </a:ext>
              </a:extLst>
            </p:cNvPr>
            <p:cNvSpPr txBox="1"/>
            <p:nvPr/>
          </p:nvSpPr>
          <p:spPr>
            <a:xfrm>
              <a:off x="5953032" y="826718"/>
              <a:ext cx="2421026" cy="11695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/>
                <a:t>Réentrainement </a:t>
              </a:r>
              <a:r>
                <a:rPr lang="fr-FR" dirty="0"/>
                <a:t>:</a:t>
              </a:r>
            </a:p>
            <a:p>
              <a:endParaRPr lang="fr-FR" dirty="0"/>
            </a:p>
            <a:p>
              <a:pPr marL="285750" indent="-285750">
                <a:buFont typeface="Wingdings" panose="05000000000000000000" pitchFamily="2" charset="2"/>
                <a:buChar char="ü"/>
              </a:pPr>
              <a:r>
                <a:rPr lang="fr-FR" dirty="0"/>
                <a:t>Labels stockés</a:t>
              </a:r>
            </a:p>
            <a:p>
              <a:pPr marL="285750" indent="-285750">
                <a:buFont typeface="Wingdings" panose="05000000000000000000" pitchFamily="2" charset="2"/>
                <a:buChar char="ü"/>
              </a:pPr>
              <a:r>
                <a:rPr lang="fr-FR" dirty="0"/>
                <a:t>Seuil de déclenchement</a:t>
              </a:r>
            </a:p>
            <a:p>
              <a:pPr marL="285750" indent="-285750">
                <a:buFont typeface="Wingdings" panose="05000000000000000000" pitchFamily="2" charset="2"/>
                <a:buChar char="ü"/>
              </a:pPr>
              <a:r>
                <a:rPr lang="fr-FR" dirty="0"/>
                <a:t>Challenger comparé</a:t>
              </a:r>
            </a:p>
          </p:txBody>
        </p: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669257E0-CA12-4DF1-3526-426C0C09735E}"/>
              </a:ext>
            </a:extLst>
          </p:cNvPr>
          <p:cNvGrpSpPr/>
          <p:nvPr/>
        </p:nvGrpSpPr>
        <p:grpSpPr>
          <a:xfrm>
            <a:off x="96172" y="3561556"/>
            <a:ext cx="2302865" cy="1301875"/>
            <a:chOff x="190500" y="784860"/>
            <a:chExt cx="2015816" cy="1301875"/>
          </a:xfrm>
        </p:grpSpPr>
        <p:sp>
          <p:nvSpPr>
            <p:cNvPr id="15" name="Rectangle : coins arrondis 14">
              <a:extLst>
                <a:ext uri="{FF2B5EF4-FFF2-40B4-BE49-F238E27FC236}">
                  <a16:creationId xmlns:a16="http://schemas.microsoft.com/office/drawing/2014/main" id="{4B4BDA55-3F3F-03FF-E974-0837C417B75E}"/>
                </a:ext>
              </a:extLst>
            </p:cNvPr>
            <p:cNvSpPr/>
            <p:nvPr/>
          </p:nvSpPr>
          <p:spPr>
            <a:xfrm>
              <a:off x="190500" y="784860"/>
              <a:ext cx="2015816" cy="1301875"/>
            </a:xfrm>
            <a:prstGeom prst="roundRect">
              <a:avLst/>
            </a:prstGeom>
            <a:noFill/>
            <a:ln>
              <a:solidFill>
                <a:srgbClr val="FF72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B3F07341-DFB6-E158-FE81-FA4F76FC472C}"/>
                </a:ext>
              </a:extLst>
            </p:cNvPr>
            <p:cNvSpPr txBox="1"/>
            <p:nvPr/>
          </p:nvSpPr>
          <p:spPr>
            <a:xfrm>
              <a:off x="268001" y="854634"/>
              <a:ext cx="1938315" cy="11695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/>
                <a:t>Contrôles </a:t>
              </a:r>
              <a:r>
                <a:rPr lang="fr-FR" dirty="0"/>
                <a:t>:</a:t>
              </a:r>
            </a:p>
            <a:p>
              <a:endParaRPr lang="fr-FR" dirty="0"/>
            </a:p>
            <a:p>
              <a:pPr marL="285750" indent="-285750">
                <a:buFont typeface="Wingdings" panose="05000000000000000000" pitchFamily="2" charset="2"/>
                <a:buChar char="ü"/>
              </a:pPr>
              <a:r>
                <a:rPr lang="fr-FR" dirty="0"/>
                <a:t>Validation qualité</a:t>
              </a:r>
            </a:p>
            <a:p>
              <a:pPr marL="285750" indent="-285750">
                <a:buFont typeface="Wingdings" panose="05000000000000000000" pitchFamily="2" charset="2"/>
                <a:buChar char="ü"/>
              </a:pPr>
              <a:r>
                <a:rPr lang="fr-FR" dirty="0"/>
                <a:t>CI Github Actions</a:t>
              </a:r>
            </a:p>
            <a:p>
              <a:pPr marL="285750" indent="-285750">
                <a:buFont typeface="Wingdings" panose="05000000000000000000" pitchFamily="2" charset="2"/>
                <a:buChar char="ü"/>
              </a:pPr>
              <a:r>
                <a:rPr lang="fr-FR" dirty="0"/>
                <a:t>Décisions historisées</a:t>
              </a:r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90373103-4F65-98E4-A1C7-9D6A608D9D88}"/>
              </a:ext>
            </a:extLst>
          </p:cNvPr>
          <p:cNvGrpSpPr/>
          <p:nvPr/>
        </p:nvGrpSpPr>
        <p:grpSpPr>
          <a:xfrm>
            <a:off x="6019113" y="2600115"/>
            <a:ext cx="3033952" cy="2101100"/>
            <a:chOff x="190500" y="784859"/>
            <a:chExt cx="2015816" cy="2101100"/>
          </a:xfrm>
        </p:grpSpPr>
        <p:sp>
          <p:nvSpPr>
            <p:cNvPr id="18" name="Rectangle : coins arrondis 17">
              <a:extLst>
                <a:ext uri="{FF2B5EF4-FFF2-40B4-BE49-F238E27FC236}">
                  <a16:creationId xmlns:a16="http://schemas.microsoft.com/office/drawing/2014/main" id="{0B25BF5D-47A7-3547-6685-E94897EABFBD}"/>
                </a:ext>
              </a:extLst>
            </p:cNvPr>
            <p:cNvSpPr/>
            <p:nvPr/>
          </p:nvSpPr>
          <p:spPr>
            <a:xfrm>
              <a:off x="190500" y="784859"/>
              <a:ext cx="2015816" cy="2101099"/>
            </a:xfrm>
            <a:prstGeom prst="roundRect">
              <a:avLst/>
            </a:prstGeom>
            <a:noFill/>
            <a:ln>
              <a:solidFill>
                <a:srgbClr val="FF72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04F36B2B-D113-01F4-AA21-72EFD547F834}"/>
                </a:ext>
              </a:extLst>
            </p:cNvPr>
            <p:cNvSpPr txBox="1"/>
            <p:nvPr/>
          </p:nvSpPr>
          <p:spPr>
            <a:xfrm>
              <a:off x="268001" y="854634"/>
              <a:ext cx="1938315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/>
                <a:t>Evolutions </a:t>
              </a:r>
              <a:r>
                <a:rPr lang="fr-FR" dirty="0"/>
                <a:t>:</a:t>
              </a:r>
            </a:p>
            <a:p>
              <a:endParaRPr lang="fr-FR" dirty="0"/>
            </a:p>
            <a:p>
              <a:pPr marL="285750" indent="-285750">
                <a:buFont typeface="Wingdings" panose="05000000000000000000" pitchFamily="2" charset="2"/>
                <a:buChar char="Ø"/>
              </a:pPr>
              <a:r>
                <a:rPr lang="fr-FR" dirty="0"/>
                <a:t>Monitoring du drift</a:t>
              </a:r>
            </a:p>
            <a:p>
              <a:pPr marL="285750" indent="-285750">
                <a:buFont typeface="Wingdings" panose="05000000000000000000" pitchFamily="2" charset="2"/>
                <a:buChar char="Ø"/>
              </a:pPr>
              <a:r>
                <a:rPr lang="fr-FR" dirty="0"/>
                <a:t>Flux labellisé / non labellisé séparés</a:t>
              </a:r>
            </a:p>
            <a:p>
              <a:pPr marL="285750" indent="-285750">
                <a:buFont typeface="Wingdings" panose="05000000000000000000" pitchFamily="2" charset="2"/>
                <a:buChar char="Ø"/>
              </a:pPr>
              <a:r>
                <a:rPr lang="fr-FR" dirty="0"/>
                <a:t>Orchestration managée</a:t>
              </a:r>
            </a:p>
            <a:p>
              <a:pPr marL="285750" indent="-285750">
                <a:buFont typeface="Wingdings" panose="05000000000000000000" pitchFamily="2" charset="2"/>
                <a:buChar char="Ø"/>
              </a:pPr>
              <a:r>
                <a:rPr lang="fr-FR" dirty="0"/>
                <a:t>Sécurité, chiffrement et droits RGPD</a:t>
              </a:r>
            </a:p>
            <a:p>
              <a:pPr marL="285750" indent="-285750">
                <a:buFont typeface="Wingdings" panose="05000000000000000000" pitchFamily="2" charset="2"/>
                <a:buChar char="Ø"/>
              </a:pPr>
              <a:r>
                <a:rPr lang="fr-FR" dirty="0"/>
                <a:t>Gestion d’incidents</a:t>
              </a:r>
            </a:p>
          </p:txBody>
        </p:sp>
      </p:grp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3232053D-2626-BC3B-BDBD-7BC40BE5EDF4}"/>
              </a:ext>
            </a:extLst>
          </p:cNvPr>
          <p:cNvGrpSpPr/>
          <p:nvPr/>
        </p:nvGrpSpPr>
        <p:grpSpPr>
          <a:xfrm>
            <a:off x="3024515" y="2093371"/>
            <a:ext cx="2475294" cy="825677"/>
            <a:chOff x="194509" y="854634"/>
            <a:chExt cx="2015816" cy="825677"/>
          </a:xfrm>
        </p:grpSpPr>
        <p:sp>
          <p:nvSpPr>
            <p:cNvPr id="26" name="Rectangle : coins arrondis 25">
              <a:extLst>
                <a:ext uri="{FF2B5EF4-FFF2-40B4-BE49-F238E27FC236}">
                  <a16:creationId xmlns:a16="http://schemas.microsoft.com/office/drawing/2014/main" id="{0F3DAA6D-2C2B-75F5-D780-83328AFD600B}"/>
                </a:ext>
              </a:extLst>
            </p:cNvPr>
            <p:cNvSpPr/>
            <p:nvPr/>
          </p:nvSpPr>
          <p:spPr>
            <a:xfrm>
              <a:off x="194509" y="871873"/>
              <a:ext cx="2015816" cy="808438"/>
            </a:xfrm>
            <a:prstGeom prst="roundRect">
              <a:avLst/>
            </a:prstGeom>
            <a:noFill/>
            <a:ln>
              <a:solidFill>
                <a:srgbClr val="FF72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66D63DD5-F021-0E89-F524-8A40A9041E59}"/>
                </a:ext>
              </a:extLst>
            </p:cNvPr>
            <p:cNvSpPr txBox="1"/>
            <p:nvPr/>
          </p:nvSpPr>
          <p:spPr>
            <a:xfrm>
              <a:off x="268001" y="854634"/>
              <a:ext cx="1938315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b="1" dirty="0"/>
                <a:t>MLOps fonctionnel </a:t>
              </a:r>
            </a:p>
            <a:p>
              <a:pPr algn="ctr"/>
              <a:r>
                <a:rPr lang="fr-FR" b="1" dirty="0"/>
                <a:t>≠ </a:t>
              </a:r>
            </a:p>
            <a:p>
              <a:pPr algn="ctr"/>
              <a:r>
                <a:rPr lang="fr-FR" b="1" dirty="0"/>
                <a:t>système industrialisé</a:t>
              </a:r>
              <a:endParaRPr lang="fr-FR" dirty="0"/>
            </a:p>
          </p:txBody>
        </p:sp>
      </p:grpSp>
      <p:grpSp>
        <p:nvGrpSpPr>
          <p:cNvPr id="29" name="Groupe 28">
            <a:extLst>
              <a:ext uri="{FF2B5EF4-FFF2-40B4-BE49-F238E27FC236}">
                <a16:creationId xmlns:a16="http://schemas.microsoft.com/office/drawing/2014/main" id="{C02C172E-7ACD-8938-095A-FD7B622B4AC3}"/>
              </a:ext>
            </a:extLst>
          </p:cNvPr>
          <p:cNvGrpSpPr/>
          <p:nvPr/>
        </p:nvGrpSpPr>
        <p:grpSpPr>
          <a:xfrm>
            <a:off x="6013877" y="720100"/>
            <a:ext cx="3033951" cy="1665691"/>
            <a:chOff x="190500" y="784859"/>
            <a:chExt cx="2015816" cy="2201589"/>
          </a:xfrm>
        </p:grpSpPr>
        <p:sp>
          <p:nvSpPr>
            <p:cNvPr id="30" name="Rectangle : coins arrondis 29">
              <a:extLst>
                <a:ext uri="{FF2B5EF4-FFF2-40B4-BE49-F238E27FC236}">
                  <a16:creationId xmlns:a16="http://schemas.microsoft.com/office/drawing/2014/main" id="{C709C036-1801-1230-3A4D-EF845AD02115}"/>
                </a:ext>
              </a:extLst>
            </p:cNvPr>
            <p:cNvSpPr/>
            <p:nvPr/>
          </p:nvSpPr>
          <p:spPr>
            <a:xfrm>
              <a:off x="190500" y="784859"/>
              <a:ext cx="2015816" cy="2201589"/>
            </a:xfrm>
            <a:prstGeom prst="roundRect">
              <a:avLst/>
            </a:prstGeom>
            <a:noFill/>
            <a:ln>
              <a:solidFill>
                <a:srgbClr val="FF72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55FF26E2-B878-3F35-3A97-8782CF54F116}"/>
                </a:ext>
              </a:extLst>
            </p:cNvPr>
            <p:cNvSpPr txBox="1"/>
            <p:nvPr/>
          </p:nvSpPr>
          <p:spPr>
            <a:xfrm>
              <a:off x="268001" y="854634"/>
              <a:ext cx="1938315" cy="18305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/>
                <a:t>Limites structurantes </a:t>
              </a:r>
              <a:r>
                <a:rPr lang="fr-FR" dirty="0"/>
                <a:t>:</a:t>
              </a:r>
            </a:p>
            <a:p>
              <a:endParaRPr lang="fr-FR" dirty="0"/>
            </a:p>
            <a:p>
              <a:pPr marL="285750" indent="-285750">
                <a:buFontTx/>
                <a:buChar char="-"/>
              </a:pPr>
              <a:r>
                <a:rPr lang="fr-FR" dirty="0"/>
                <a:t>Label « is_fraud » simulé</a:t>
              </a:r>
            </a:p>
            <a:p>
              <a:pPr marL="285750" indent="-285750">
                <a:buFontTx/>
                <a:buChar char="-"/>
              </a:pPr>
              <a:r>
                <a:rPr lang="fr-FR" dirty="0"/>
                <a:t>Airflow exécuté localement</a:t>
              </a:r>
            </a:p>
            <a:p>
              <a:pPr marL="285750" indent="-285750">
                <a:buFontTx/>
                <a:buChar char="-"/>
              </a:pPr>
              <a:r>
                <a:rPr lang="fr-FR" dirty="0"/>
                <a:t>Pas de surveillance du drift</a:t>
              </a:r>
            </a:p>
            <a:p>
              <a:pPr marL="285750" indent="-285750">
                <a:buFontTx/>
                <a:buChar char="-"/>
              </a:pPr>
              <a:r>
                <a:rPr lang="fr-FR" dirty="0"/>
                <a:t>Alerting Discord démonstratif</a:t>
              </a:r>
            </a:p>
          </p:txBody>
        </p:sp>
      </p:grp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C85C7AB5-E942-806C-418A-27412AF39EB3}"/>
              </a:ext>
            </a:extLst>
          </p:cNvPr>
          <p:cNvCxnSpPr>
            <a:stCxn id="4" idx="3"/>
            <a:endCxn id="26" idx="1"/>
          </p:cNvCxnSpPr>
          <p:nvPr/>
        </p:nvCxnSpPr>
        <p:spPr>
          <a:xfrm>
            <a:off x="2106751" y="1490625"/>
            <a:ext cx="917764" cy="1024204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448923AD-C759-99A9-16EA-A5552C429BD0}"/>
              </a:ext>
            </a:extLst>
          </p:cNvPr>
          <p:cNvCxnSpPr>
            <a:cxnSpLocks/>
            <a:stCxn id="16" idx="3"/>
            <a:endCxn id="26" idx="1"/>
          </p:cNvCxnSpPr>
          <p:nvPr/>
        </p:nvCxnSpPr>
        <p:spPr>
          <a:xfrm flipV="1">
            <a:off x="2399037" y="2514829"/>
            <a:ext cx="625478" cy="1701277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688FC785-D042-DC57-526E-19DEF6C3B307}"/>
              </a:ext>
            </a:extLst>
          </p:cNvPr>
          <p:cNvCxnSpPr>
            <a:cxnSpLocks/>
            <a:stCxn id="10" idx="3"/>
            <a:endCxn id="26" idx="1"/>
          </p:cNvCxnSpPr>
          <p:nvPr/>
        </p:nvCxnSpPr>
        <p:spPr>
          <a:xfrm flipV="1">
            <a:off x="2564001" y="2514829"/>
            <a:ext cx="460514" cy="332997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357C93A5-5AB2-423B-7267-7E6E6541708B}"/>
              </a:ext>
            </a:extLst>
          </p:cNvPr>
          <p:cNvCxnSpPr>
            <a:cxnSpLocks/>
            <a:stCxn id="28" idx="3"/>
            <a:endCxn id="30" idx="1"/>
          </p:cNvCxnSpPr>
          <p:nvPr/>
        </p:nvCxnSpPr>
        <p:spPr>
          <a:xfrm flipV="1">
            <a:off x="5494887" y="1552946"/>
            <a:ext cx="518990" cy="909757"/>
          </a:xfrm>
          <a:prstGeom prst="straightConnector1">
            <a:avLst/>
          </a:prstGeom>
          <a:ln w="19050">
            <a:solidFill>
              <a:srgbClr val="FF72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F91397E3-AF62-198E-AF6A-6E999CFC4F93}"/>
              </a:ext>
            </a:extLst>
          </p:cNvPr>
          <p:cNvCxnSpPr>
            <a:cxnSpLocks/>
            <a:stCxn id="28" idx="3"/>
            <a:endCxn id="18" idx="1"/>
          </p:cNvCxnSpPr>
          <p:nvPr/>
        </p:nvCxnSpPr>
        <p:spPr>
          <a:xfrm>
            <a:off x="5494887" y="2462703"/>
            <a:ext cx="524226" cy="1187962"/>
          </a:xfrm>
          <a:prstGeom prst="straightConnector1">
            <a:avLst/>
          </a:prstGeom>
          <a:ln w="19050">
            <a:solidFill>
              <a:srgbClr val="FF72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81080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4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5200" b="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 questions ?</a:t>
            </a:r>
            <a:endParaRPr sz="52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68" name="Google Shape;168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3209</TotalTime>
  <Words>338</Words>
  <Application>Microsoft Office PowerPoint</Application>
  <PresentationFormat>Affichage à l'écran (16:9)</PresentationFormat>
  <Paragraphs>69</Paragraphs>
  <Slides>7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7</vt:i4>
      </vt:variant>
    </vt:vector>
  </HeadingPairs>
  <TitlesOfParts>
    <vt:vector size="13" baseType="lpstr">
      <vt:lpstr>Arial</vt:lpstr>
      <vt:lpstr>Inter SemiBold</vt:lpstr>
      <vt:lpstr>Inter Medium</vt:lpstr>
      <vt:lpstr>Wingdings</vt:lpstr>
      <vt:lpstr>Simple Light</vt:lpstr>
      <vt:lpstr>1_Simple Light</vt:lpstr>
      <vt:lpstr>Projet Automatic Fraud Detection</vt:lpstr>
      <vt:lpstr>Le point de départ : une transaction entre dans le système</vt:lpstr>
      <vt:lpstr>Une prédiction devient une trace exploitable</vt:lpstr>
      <vt:lpstr>Champion vs Challenger : une promotion contrôlée</vt:lpstr>
      <vt:lpstr>Une chaîne MLOps de bout en bout</vt:lpstr>
      <vt:lpstr>Conclusion</vt:lpstr>
      <vt:lpstr>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Jyv</dc:creator>
  <cp:lastModifiedBy>Antoine C</cp:lastModifiedBy>
  <cp:revision>82</cp:revision>
  <dcterms:modified xsi:type="dcterms:W3CDTF">2026-06-14T08:29:05Z</dcterms:modified>
</cp:coreProperties>
</file>